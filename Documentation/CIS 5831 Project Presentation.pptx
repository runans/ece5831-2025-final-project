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Roboto Mono"/>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4802916-58F7-4A72-A372-689BE9D58692}">
  <a:tblStyle styleId="{04802916-58F7-4A72-A372-689BE9D5869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Mono-bold.fntdata"/><Relationship Id="rId25" Type="http://schemas.openxmlformats.org/officeDocument/2006/relationships/font" Target="fonts/RobotoMono-regular.fntdata"/><Relationship Id="rId28" Type="http://schemas.openxmlformats.org/officeDocument/2006/relationships/font" Target="fonts/RobotoMono-boldItalic.fntdata"/><Relationship Id="rId27" Type="http://schemas.openxmlformats.org/officeDocument/2006/relationships/font" Target="fonts/RobotoMon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g377c56f3a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 name="Google Shape;28;g377c56f3a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5" name="Google Shape;3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g3914f3dbbec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 name="Google Shape;42;g3914f3dbbec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g3ac9a42d4b4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 name="Google Shape;49;g3ac9a42d4b4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g3ac9a42d4b4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g3ac9a42d4b4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ac9a42d4b4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ac9a42d4b4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914f3dbbe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914f3dbbe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ac9a42d4b4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ac9a42d4b4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ac9a42d4b4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ac9a42d4b4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b071e5381f_2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b071e5381f_2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914f3dbbec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914f3dbbec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914f3dbbec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914f3dbbec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b07b924c72_4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b07b924c72_4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b07b924c72_4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b07b924c72_4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b07b924c72_4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b07b924c72_4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b07b924c72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b07b924c72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77c56f3aa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77c56f3aa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b07b924c72_4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b07b924c72_4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b07b924c72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b07b924c72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7.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13.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1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6" name="Shape 6"/>
        <p:cNvGrpSpPr/>
        <p:nvPr/>
      </p:nvGrpSpPr>
      <p:grpSpPr>
        <a:xfrm>
          <a:off x="0" y="0"/>
          <a:ext cx="0" cy="0"/>
          <a:chOff x="0" y="0"/>
          <a:chExt cx="0" cy="0"/>
        </a:xfrm>
      </p:grpSpPr>
      <p:pic>
        <p:nvPicPr>
          <p:cNvPr descr="Powerpoint_img3_NEW.jpg" id="7" name="Google Shape;7;p2"/>
          <p:cNvPicPr preferRelativeResize="0"/>
          <p:nvPr/>
        </p:nvPicPr>
        <p:blipFill rotWithShape="1">
          <a:blip r:embed="rId2">
            <a:alphaModFix/>
          </a:blip>
          <a:srcRect b="0" l="0" r="0" t="0"/>
          <a:stretch/>
        </p:blipFill>
        <p:spPr>
          <a:xfrm>
            <a:off x="-1" y="4894118"/>
            <a:ext cx="9144000" cy="249300"/>
          </a:xfrm>
          <a:prstGeom prst="rect">
            <a:avLst/>
          </a:prstGeom>
          <a:noFill/>
          <a:ln>
            <a:noFill/>
          </a:ln>
        </p:spPr>
      </p:pic>
      <p:pic>
        <p:nvPicPr>
          <p:cNvPr descr="Blue Bar.jpg" id="8" name="Google Shape;8;p2"/>
          <p:cNvPicPr preferRelativeResize="0"/>
          <p:nvPr/>
        </p:nvPicPr>
        <p:blipFill rotWithShape="1">
          <a:blip r:embed="rId3">
            <a:alphaModFix/>
          </a:blip>
          <a:srcRect b="0" l="0" r="0" t="0"/>
          <a:stretch/>
        </p:blipFill>
        <p:spPr>
          <a:xfrm>
            <a:off x="704229" y="1"/>
            <a:ext cx="1080900" cy="3135000"/>
          </a:xfrm>
          <a:prstGeom prst="rect">
            <a:avLst/>
          </a:prstGeom>
          <a:noFill/>
          <a:ln>
            <a:noFill/>
          </a:ln>
        </p:spPr>
      </p:pic>
      <p:sp>
        <p:nvSpPr>
          <p:cNvPr id="9" name="Google Shape;9;p2"/>
          <p:cNvSpPr txBox="1"/>
          <p:nvPr>
            <p:ph type="title"/>
          </p:nvPr>
        </p:nvSpPr>
        <p:spPr>
          <a:xfrm>
            <a:off x="2430675" y="1297550"/>
            <a:ext cx="6541200" cy="14982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b="1" sz="48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0" name="Google Shape;10;p2"/>
          <p:cNvSpPr txBox="1"/>
          <p:nvPr>
            <p:ph idx="1" type="subTitle"/>
          </p:nvPr>
        </p:nvSpPr>
        <p:spPr>
          <a:xfrm>
            <a:off x="2463525" y="2873350"/>
            <a:ext cx="5602500" cy="354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1" name="Shape 11"/>
        <p:cNvGrpSpPr/>
        <p:nvPr/>
      </p:nvGrpSpPr>
      <p:grpSpPr>
        <a:xfrm>
          <a:off x="0" y="0"/>
          <a:ext cx="0" cy="0"/>
          <a:chOff x="0" y="0"/>
          <a:chExt cx="0" cy="0"/>
        </a:xfrm>
      </p:grpSpPr>
      <p:pic>
        <p:nvPicPr>
          <p:cNvPr descr="Powerpoint_img3_NEW.jpg" id="12" name="Google Shape;12;p3"/>
          <p:cNvPicPr preferRelativeResize="0"/>
          <p:nvPr/>
        </p:nvPicPr>
        <p:blipFill rotWithShape="1">
          <a:blip r:embed="rId2">
            <a:alphaModFix/>
          </a:blip>
          <a:srcRect b="0" l="0" r="0" t="0"/>
          <a:stretch/>
        </p:blipFill>
        <p:spPr>
          <a:xfrm>
            <a:off x="-1" y="4894118"/>
            <a:ext cx="9144000" cy="249300"/>
          </a:xfrm>
          <a:prstGeom prst="rect">
            <a:avLst/>
          </a:prstGeom>
          <a:noFill/>
          <a:ln>
            <a:noFill/>
          </a:ln>
        </p:spPr>
      </p:pic>
      <p:pic>
        <p:nvPicPr>
          <p:cNvPr descr="Blue Square.jpg" id="13" name="Google Shape;13;p3"/>
          <p:cNvPicPr preferRelativeResize="0"/>
          <p:nvPr/>
        </p:nvPicPr>
        <p:blipFill rotWithShape="1">
          <a:blip r:embed="rId3">
            <a:alphaModFix/>
          </a:blip>
          <a:srcRect b="0" l="0" r="0" t="0"/>
          <a:stretch/>
        </p:blipFill>
        <p:spPr>
          <a:xfrm>
            <a:off x="7939314" y="-1"/>
            <a:ext cx="825300" cy="996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p:cSld name="Title and Content_1">
    <p:spTree>
      <p:nvGrpSpPr>
        <p:cNvPr id="14" name="Shape 14"/>
        <p:cNvGrpSpPr/>
        <p:nvPr/>
      </p:nvGrpSpPr>
      <p:grpSpPr>
        <a:xfrm>
          <a:off x="0" y="0"/>
          <a:ext cx="0" cy="0"/>
          <a:chOff x="0" y="0"/>
          <a:chExt cx="0" cy="0"/>
        </a:xfrm>
      </p:grpSpPr>
      <p:pic>
        <p:nvPicPr>
          <p:cNvPr descr="Powerpoint_img3_NEW.jpg" id="15" name="Google Shape;15;p4"/>
          <p:cNvPicPr preferRelativeResize="0"/>
          <p:nvPr/>
        </p:nvPicPr>
        <p:blipFill rotWithShape="1">
          <a:blip r:embed="rId2">
            <a:alphaModFix/>
          </a:blip>
          <a:srcRect b="0" l="0" r="0" t="0"/>
          <a:stretch/>
        </p:blipFill>
        <p:spPr>
          <a:xfrm>
            <a:off x="-1" y="4894118"/>
            <a:ext cx="9144000" cy="249300"/>
          </a:xfrm>
          <a:prstGeom prst="rect">
            <a:avLst/>
          </a:prstGeom>
          <a:noFill/>
          <a:ln>
            <a:noFill/>
          </a:ln>
        </p:spPr>
      </p:pic>
      <p:pic>
        <p:nvPicPr>
          <p:cNvPr descr="Blue Square.jpg" id="16" name="Google Shape;16;p4"/>
          <p:cNvPicPr preferRelativeResize="0"/>
          <p:nvPr/>
        </p:nvPicPr>
        <p:blipFill rotWithShape="1">
          <a:blip r:embed="rId3">
            <a:alphaModFix/>
          </a:blip>
          <a:srcRect b="0" l="0" r="0" t="0"/>
          <a:stretch/>
        </p:blipFill>
        <p:spPr>
          <a:xfrm>
            <a:off x="7939314" y="-1"/>
            <a:ext cx="825300" cy="996000"/>
          </a:xfrm>
          <a:prstGeom prst="rect">
            <a:avLst/>
          </a:prstGeom>
          <a:noFill/>
          <a:ln>
            <a:noFill/>
          </a:ln>
        </p:spPr>
      </p:pic>
      <p:sp>
        <p:nvSpPr>
          <p:cNvPr id="17" name="Google Shape;17;p4"/>
          <p:cNvSpPr txBox="1"/>
          <p:nvPr>
            <p:ph idx="1" type="subTitle"/>
          </p:nvPr>
        </p:nvSpPr>
        <p:spPr>
          <a:xfrm>
            <a:off x="1558500" y="1604350"/>
            <a:ext cx="6027000" cy="12801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b="1" sz="3600"/>
            </a:lvl1pPr>
            <a:lvl2pPr lvl="1" rtl="0" algn="ctr">
              <a:spcBef>
                <a:spcPts val="0"/>
              </a:spcBef>
              <a:spcAft>
                <a:spcPts val="0"/>
              </a:spcAft>
              <a:buNone/>
              <a:defRPr b="1" sz="3600"/>
            </a:lvl2pPr>
            <a:lvl3pPr lvl="2" rtl="0" algn="ctr">
              <a:spcBef>
                <a:spcPts val="0"/>
              </a:spcBef>
              <a:spcAft>
                <a:spcPts val="0"/>
              </a:spcAft>
              <a:buNone/>
              <a:defRPr b="1" sz="3600"/>
            </a:lvl3pPr>
            <a:lvl4pPr lvl="3" rtl="0" algn="ctr">
              <a:spcBef>
                <a:spcPts val="0"/>
              </a:spcBef>
              <a:spcAft>
                <a:spcPts val="0"/>
              </a:spcAft>
              <a:buNone/>
              <a:defRPr b="1" sz="3600"/>
            </a:lvl4pPr>
            <a:lvl5pPr lvl="4" rtl="0" algn="ctr">
              <a:spcBef>
                <a:spcPts val="0"/>
              </a:spcBef>
              <a:spcAft>
                <a:spcPts val="0"/>
              </a:spcAft>
              <a:buNone/>
              <a:defRPr b="1" sz="3600"/>
            </a:lvl5pPr>
            <a:lvl6pPr lvl="5" rtl="0" algn="ctr">
              <a:spcBef>
                <a:spcPts val="0"/>
              </a:spcBef>
              <a:spcAft>
                <a:spcPts val="0"/>
              </a:spcAft>
              <a:buNone/>
              <a:defRPr b="1" sz="3600"/>
            </a:lvl6pPr>
            <a:lvl7pPr lvl="6" rtl="0" algn="ctr">
              <a:spcBef>
                <a:spcPts val="0"/>
              </a:spcBef>
              <a:spcAft>
                <a:spcPts val="0"/>
              </a:spcAft>
              <a:buNone/>
              <a:defRPr b="1" sz="3600"/>
            </a:lvl7pPr>
            <a:lvl8pPr lvl="7" rtl="0" algn="ctr">
              <a:spcBef>
                <a:spcPts val="0"/>
              </a:spcBef>
              <a:spcAft>
                <a:spcPts val="0"/>
              </a:spcAft>
              <a:buNone/>
              <a:defRPr b="1" sz="3600"/>
            </a:lvl8pPr>
            <a:lvl9pPr lvl="8" rtl="0" algn="ctr">
              <a:spcBef>
                <a:spcPts val="0"/>
              </a:spcBef>
              <a:spcAft>
                <a:spcPts val="0"/>
              </a:spcAft>
              <a:buNone/>
              <a:defRPr b="1" sz="36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5200"/>
              <a:buChar char="●"/>
              <a:defRPr sz="5200"/>
            </a:lvl1pPr>
            <a:lvl2pPr lvl="1" rtl="0" algn="ctr">
              <a:spcBef>
                <a:spcPts val="0"/>
              </a:spcBef>
              <a:spcAft>
                <a:spcPts val="0"/>
              </a:spcAft>
              <a:buSzPts val="5200"/>
              <a:buChar char="○"/>
              <a:defRPr sz="5200"/>
            </a:lvl2pPr>
            <a:lvl3pPr lvl="2" rtl="0" algn="ctr">
              <a:spcBef>
                <a:spcPts val="0"/>
              </a:spcBef>
              <a:spcAft>
                <a:spcPts val="0"/>
              </a:spcAft>
              <a:buSzPts val="5200"/>
              <a:buChar char="■"/>
              <a:defRPr sz="5200"/>
            </a:lvl3pPr>
            <a:lvl4pPr lvl="3" rtl="0" algn="ctr">
              <a:spcBef>
                <a:spcPts val="0"/>
              </a:spcBef>
              <a:spcAft>
                <a:spcPts val="0"/>
              </a:spcAft>
              <a:buSzPts val="5200"/>
              <a:buChar char="●"/>
              <a:defRPr sz="5200"/>
            </a:lvl4pPr>
            <a:lvl5pPr lvl="4" rtl="0" algn="ctr">
              <a:spcBef>
                <a:spcPts val="0"/>
              </a:spcBef>
              <a:spcAft>
                <a:spcPts val="0"/>
              </a:spcAft>
              <a:buSzPts val="5200"/>
              <a:buChar char="○"/>
              <a:defRPr sz="5200"/>
            </a:lvl5pPr>
            <a:lvl6pPr lvl="5" rtl="0" algn="ctr">
              <a:spcBef>
                <a:spcPts val="0"/>
              </a:spcBef>
              <a:spcAft>
                <a:spcPts val="0"/>
              </a:spcAft>
              <a:buSzPts val="5200"/>
              <a:buChar char="■"/>
              <a:defRPr sz="5200"/>
            </a:lvl6pPr>
            <a:lvl7pPr lvl="6" rtl="0" algn="ctr">
              <a:spcBef>
                <a:spcPts val="0"/>
              </a:spcBef>
              <a:spcAft>
                <a:spcPts val="0"/>
              </a:spcAft>
              <a:buSzPts val="5200"/>
              <a:buChar char="●"/>
              <a:defRPr sz="5200"/>
            </a:lvl7pPr>
            <a:lvl8pPr lvl="7" rtl="0" algn="ctr">
              <a:spcBef>
                <a:spcPts val="0"/>
              </a:spcBef>
              <a:spcAft>
                <a:spcPts val="0"/>
              </a:spcAft>
              <a:buSzPts val="5200"/>
              <a:buChar char="○"/>
              <a:defRPr sz="5200"/>
            </a:lvl8pPr>
            <a:lvl9pPr lvl="8" rtl="0" algn="ctr">
              <a:spcBef>
                <a:spcPts val="0"/>
              </a:spcBef>
              <a:spcAft>
                <a:spcPts val="0"/>
              </a:spcAft>
              <a:buSzPts val="5200"/>
              <a:buChar char="■"/>
              <a:defRPr sz="5200"/>
            </a:lvl9pPr>
          </a:lstStyle>
          <a:p/>
        </p:txBody>
      </p:sp>
      <p:sp>
        <p:nvSpPr>
          <p:cNvPr id="20" name="Google Shape;20;p5"/>
          <p:cNvSpPr txBox="1"/>
          <p:nvPr>
            <p:ph idx="1" type="subTitle"/>
          </p:nvPr>
        </p:nvSpPr>
        <p:spPr>
          <a:xfrm>
            <a:off x="311700" y="2834125"/>
            <a:ext cx="8520600" cy="7926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1" name="Google Shape;21;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2" name="Shape 22"/>
        <p:cNvGrpSpPr/>
        <p:nvPr/>
      </p:nvGrpSpPr>
      <p:grpSpPr>
        <a:xfrm>
          <a:off x="0" y="0"/>
          <a:ext cx="0" cy="0"/>
          <a:chOff x="0" y="0"/>
          <a:chExt cx="0" cy="0"/>
        </a:xfrm>
      </p:grpSpPr>
      <p:sp>
        <p:nvSpPr>
          <p:cNvPr id="23" name="Google Shape;23;p6"/>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24" name="Google Shape;24;p6"/>
          <p:cNvSpPr txBox="1"/>
          <p:nvPr>
            <p:ph idx="1" type="body"/>
          </p:nvPr>
        </p:nvSpPr>
        <p:spPr>
          <a:xfrm>
            <a:off x="311700" y="1152475"/>
            <a:ext cx="8520600" cy="34164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5" name="Google Shape;25;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12.png"/><Relationship Id="rId5"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youtu.be/amlSIy4KrkE" TargetMode="External"/><Relationship Id="rId4" Type="http://schemas.openxmlformats.org/officeDocument/2006/relationships/hyperlink" Target="https://youtu.be/j7CRVgZhN4I"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 name="Shape 29"/>
        <p:cNvGrpSpPr/>
        <p:nvPr/>
      </p:nvGrpSpPr>
      <p:grpSpPr>
        <a:xfrm>
          <a:off x="0" y="0"/>
          <a:ext cx="0" cy="0"/>
          <a:chOff x="0" y="0"/>
          <a:chExt cx="0" cy="0"/>
        </a:xfrm>
      </p:grpSpPr>
      <p:sp>
        <p:nvSpPr>
          <p:cNvPr id="30" name="Google Shape;30;p7"/>
          <p:cNvSpPr txBox="1"/>
          <p:nvPr>
            <p:ph type="title"/>
          </p:nvPr>
        </p:nvSpPr>
        <p:spPr>
          <a:xfrm>
            <a:off x="2430675" y="950875"/>
            <a:ext cx="6541200" cy="13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0" lang="en" sz="1800" u="sng"/>
              <a:t>CIS 5831 - Pattern Recognition</a:t>
            </a:r>
            <a:endParaRPr b="0" sz="1800" u="sng"/>
          </a:p>
          <a:p>
            <a:pPr indent="0" lvl="0" marL="0" rtl="0" algn="ctr">
              <a:spcBef>
                <a:spcPts val="0"/>
              </a:spcBef>
              <a:spcAft>
                <a:spcPts val="0"/>
              </a:spcAft>
              <a:buNone/>
            </a:pPr>
            <a:r>
              <a:t/>
            </a:r>
            <a:endParaRPr sz="2800"/>
          </a:p>
          <a:p>
            <a:pPr indent="0" lvl="0" marL="0" rtl="0" algn="ctr">
              <a:spcBef>
                <a:spcPts val="0"/>
              </a:spcBef>
              <a:spcAft>
                <a:spcPts val="0"/>
              </a:spcAft>
              <a:buNone/>
            </a:pPr>
            <a:r>
              <a:rPr lang="en" sz="2800"/>
              <a:t>Music genre classification system</a:t>
            </a:r>
            <a:endParaRPr sz="2800"/>
          </a:p>
          <a:p>
            <a:pPr indent="0" lvl="0" marL="0" rtl="0" algn="ctr">
              <a:spcBef>
                <a:spcPts val="0"/>
              </a:spcBef>
              <a:spcAft>
                <a:spcPts val="0"/>
              </a:spcAft>
              <a:buNone/>
            </a:pPr>
            <a:r>
              <a:t/>
            </a:r>
            <a:endParaRPr sz="2800"/>
          </a:p>
        </p:txBody>
      </p:sp>
      <p:sp>
        <p:nvSpPr>
          <p:cNvPr id="31" name="Google Shape;31;p7"/>
          <p:cNvSpPr txBox="1"/>
          <p:nvPr>
            <p:ph idx="1" type="subTitle"/>
          </p:nvPr>
        </p:nvSpPr>
        <p:spPr>
          <a:xfrm>
            <a:off x="2840896" y="2797432"/>
            <a:ext cx="5602500" cy="35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100">
                <a:solidFill>
                  <a:schemeClr val="dk1"/>
                </a:solidFill>
              </a:rPr>
              <a:t>-  </a:t>
            </a:r>
            <a:r>
              <a:rPr b="1" lang="en" sz="1100">
                <a:solidFill>
                  <a:schemeClr val="dk1"/>
                </a:solidFill>
              </a:rPr>
              <a:t>Tejaswini Vemulapally</a:t>
            </a:r>
            <a:r>
              <a:rPr lang="en" sz="1100">
                <a:solidFill>
                  <a:schemeClr val="dk1"/>
                </a:solidFill>
              </a:rPr>
              <a:t>, </a:t>
            </a:r>
            <a:r>
              <a:rPr b="1" lang="en" sz="1100">
                <a:solidFill>
                  <a:schemeClr val="dk1"/>
                </a:solidFill>
              </a:rPr>
              <a:t>Sai Arunanshu Govindarajula</a:t>
            </a:r>
            <a:endParaRPr/>
          </a:p>
        </p:txBody>
      </p:sp>
      <p:sp>
        <p:nvSpPr>
          <p:cNvPr id="32" name="Google Shape;32;p7"/>
          <p:cNvSpPr txBox="1"/>
          <p:nvPr/>
        </p:nvSpPr>
        <p:spPr>
          <a:xfrm>
            <a:off x="827325" y="2612575"/>
            <a:ext cx="885300" cy="354000"/>
          </a:xfrm>
          <a:prstGeom prst="rect">
            <a:avLst/>
          </a:prstGeom>
          <a:solidFill>
            <a:srgbClr val="161C4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 name="Shape 36"/>
        <p:cNvGrpSpPr/>
        <p:nvPr/>
      </p:nvGrpSpPr>
      <p:grpSpPr>
        <a:xfrm>
          <a:off x="0" y="0"/>
          <a:ext cx="0" cy="0"/>
          <a:chOff x="0" y="0"/>
          <a:chExt cx="0" cy="0"/>
        </a:xfrm>
      </p:grpSpPr>
      <p:sp>
        <p:nvSpPr>
          <p:cNvPr id="37" name="Google Shape;37;p8"/>
          <p:cNvSpPr txBox="1"/>
          <p:nvPr>
            <p:ph type="title"/>
          </p:nvPr>
        </p:nvSpPr>
        <p:spPr>
          <a:xfrm>
            <a:off x="449823" y="289350"/>
            <a:ext cx="70137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400"/>
              <a:t>Team Member Responsibilities:</a:t>
            </a:r>
            <a:endParaRPr b="1" sz="2400"/>
          </a:p>
        </p:txBody>
      </p:sp>
      <p:graphicFrame>
        <p:nvGraphicFramePr>
          <p:cNvPr id="38" name="Google Shape;38;p8"/>
          <p:cNvGraphicFramePr/>
          <p:nvPr/>
        </p:nvGraphicFramePr>
        <p:xfrm>
          <a:off x="449825" y="1128950"/>
          <a:ext cx="3000000" cy="3000000"/>
        </p:xfrm>
        <a:graphic>
          <a:graphicData uri="http://schemas.openxmlformats.org/drawingml/2006/table">
            <a:tbl>
              <a:tblPr>
                <a:noFill/>
                <a:tableStyleId>{04802916-58F7-4A72-A372-689BE9D58692}</a:tableStyleId>
              </a:tblPr>
              <a:tblGrid>
                <a:gridCol w="7783825"/>
              </a:tblGrid>
              <a:tr h="2890700">
                <a:tc>
                  <a:txBody>
                    <a:bodyPr/>
                    <a:lstStyle/>
                    <a:p>
                      <a:pPr indent="-304800" lvl="0" marL="457200" rtl="0" algn="just">
                        <a:lnSpc>
                          <a:spcPct val="115000"/>
                        </a:lnSpc>
                        <a:spcBef>
                          <a:spcPts val="1200"/>
                        </a:spcBef>
                        <a:spcAft>
                          <a:spcPts val="0"/>
                        </a:spcAft>
                        <a:buClr>
                          <a:schemeClr val="dk1"/>
                        </a:buClr>
                        <a:buSzPts val="1200"/>
                        <a:buFont typeface="Noto Sans Symbols"/>
                        <a:buChar char="●"/>
                      </a:pPr>
                      <a:r>
                        <a:rPr b="1" lang="en" sz="1100">
                          <a:solidFill>
                            <a:schemeClr val="dk1"/>
                          </a:solidFill>
                        </a:rPr>
                        <a:t>Tejaswini Vemulapally</a:t>
                      </a:r>
                      <a:r>
                        <a:rPr lang="en" sz="1100">
                          <a:solidFill>
                            <a:schemeClr val="dk1"/>
                          </a:solidFill>
                        </a:rPr>
                        <a:t> focused on data validation and system development by cleaning and verifying audio data, designing the Flask frontend, initiating the email alert system, and maintaining project documentation and milestones.</a:t>
                      </a:r>
                      <a:endParaRPr sz="1100">
                        <a:solidFill>
                          <a:schemeClr val="dk1"/>
                        </a:solidFill>
                      </a:endParaRPr>
                    </a:p>
                    <a:p>
                      <a:pPr indent="0" lvl="0" marL="0" rtl="0" algn="just">
                        <a:lnSpc>
                          <a:spcPct val="115000"/>
                        </a:lnSpc>
                        <a:spcBef>
                          <a:spcPts val="1200"/>
                        </a:spcBef>
                        <a:spcAft>
                          <a:spcPts val="0"/>
                        </a:spcAft>
                        <a:buNone/>
                      </a:pPr>
                      <a:r>
                        <a:t/>
                      </a:r>
                      <a:endParaRPr sz="1100">
                        <a:solidFill>
                          <a:schemeClr val="dk1"/>
                        </a:solidFill>
                      </a:endParaRPr>
                    </a:p>
                    <a:p>
                      <a:pPr indent="-304800" lvl="0" marL="457200" rtl="0" algn="just">
                        <a:lnSpc>
                          <a:spcPct val="115000"/>
                        </a:lnSpc>
                        <a:spcBef>
                          <a:spcPts val="1200"/>
                        </a:spcBef>
                        <a:spcAft>
                          <a:spcPts val="0"/>
                        </a:spcAft>
                        <a:buClr>
                          <a:schemeClr val="dk1"/>
                        </a:buClr>
                        <a:buSzPts val="1200"/>
                        <a:buFont typeface="Noto Sans Symbols"/>
                        <a:buChar char="●"/>
                      </a:pPr>
                      <a:r>
                        <a:rPr b="1" lang="en" sz="1100">
                          <a:solidFill>
                            <a:schemeClr val="dk1"/>
                          </a:solidFill>
                        </a:rPr>
                        <a:t>Sai Arunanshu Govindarajula</a:t>
                      </a:r>
                      <a:r>
                        <a:rPr lang="en" sz="1100">
                          <a:solidFill>
                            <a:schemeClr val="dk1"/>
                          </a:solidFill>
                        </a:rPr>
                        <a:t> handled the core machine learning work, including audio feature extraction (MFCC, chroma, spectral features), training ANN, LSTM, and CNN models, integrating the model into Flask, and managing audio preprocessing using FFMPEG.</a:t>
                      </a:r>
                      <a:endParaRPr b="1" sz="1200">
                        <a:solidFill>
                          <a:schemeClr val="dk1"/>
                        </a:solidFill>
                        <a:latin typeface="Times New Roman"/>
                        <a:ea typeface="Times New Roman"/>
                        <a:cs typeface="Times New Roman"/>
                        <a:sym typeface="Times New Roman"/>
                      </a:endParaRPr>
                    </a:p>
                  </a:txBody>
                  <a:tcPr marT="91425" marB="91425" marR="91425" marL="91425"/>
                </a:tc>
              </a:tr>
            </a:tbl>
          </a:graphicData>
        </a:graphic>
      </p:graphicFrame>
      <p:pic>
        <p:nvPicPr>
          <p:cNvPr id="39" name="Google Shape;39;p8"/>
          <p:cNvPicPr preferRelativeResize="0"/>
          <p:nvPr/>
        </p:nvPicPr>
        <p:blipFill>
          <a:blip r:embed="rId3">
            <a:alphaModFix/>
          </a:blip>
          <a:stretch>
            <a:fillRect/>
          </a:stretch>
        </p:blipFill>
        <p:spPr>
          <a:xfrm>
            <a:off x="0" y="4927225"/>
            <a:ext cx="9143999" cy="2162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9"/>
          <p:cNvSpPr txBox="1"/>
          <p:nvPr>
            <p:ph type="title"/>
          </p:nvPr>
        </p:nvSpPr>
        <p:spPr>
          <a:xfrm>
            <a:off x="449823" y="289350"/>
            <a:ext cx="70137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400"/>
              <a:t>Introduction:</a:t>
            </a:r>
            <a:endParaRPr b="1" sz="2400"/>
          </a:p>
        </p:txBody>
      </p:sp>
      <p:graphicFrame>
        <p:nvGraphicFramePr>
          <p:cNvPr id="45" name="Google Shape;45;p9"/>
          <p:cNvGraphicFramePr/>
          <p:nvPr/>
        </p:nvGraphicFramePr>
        <p:xfrm>
          <a:off x="449825" y="1002050"/>
          <a:ext cx="3000000" cy="3000000"/>
        </p:xfrm>
        <a:graphic>
          <a:graphicData uri="http://schemas.openxmlformats.org/drawingml/2006/table">
            <a:tbl>
              <a:tblPr>
                <a:noFill/>
                <a:tableStyleId>{04802916-58F7-4A72-A372-689BE9D58692}</a:tableStyleId>
              </a:tblPr>
              <a:tblGrid>
                <a:gridCol w="7783825"/>
              </a:tblGrid>
              <a:tr h="3017600">
                <a:tc>
                  <a:txBody>
                    <a:bodyPr/>
                    <a:lstStyle/>
                    <a:p>
                      <a:pPr indent="0" lvl="0" marL="0" rtl="0" algn="just">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         </a:t>
                      </a:r>
                      <a:endParaRPr sz="12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          This research work is related to developing a musical genre classification solution with audio features by using deep learning approaches. A structured feature data analysis is run, and key patterns are displayed to extract more information about the data distribution as well as feature characteristics. Some of the statistics analysis techniques related to data dimensionality reduction are utilized to understand the relationship between various features, as well as understand the grouping of various genres of music in the feature space. It assists in understanding the relevant features of the data that lay a robust foundation for developing models.</a:t>
                      </a:r>
                      <a:endParaRPr sz="12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            Aside from using structured features, raw audio files also undergo processing for the extraction of Mel-Frequency Cepstral Coefficients (MFCCs), which are significant for the representation of audio features in terms of their temporal and spectral properties. These features are then utilized for training a Convolutional Neural Network (CNN) for the learning of complex audio patterns that are unique to various genres of audio. This network is then tested on a test data set as well as on real-world audio files to derive its capability of functioning effectively in real-world applications.</a:t>
                      </a:r>
                      <a:endParaRPr sz="1200">
                        <a:solidFill>
                          <a:schemeClr val="dk1"/>
                        </a:solidFill>
                        <a:latin typeface="Times New Roman"/>
                        <a:ea typeface="Times New Roman"/>
                        <a:cs typeface="Times New Roman"/>
                        <a:sym typeface="Times New Roman"/>
                      </a:endParaRPr>
                    </a:p>
                  </a:txBody>
                  <a:tcPr marT="91425" marB="91425" marR="91425" marL="91425"/>
                </a:tc>
              </a:tr>
            </a:tbl>
          </a:graphicData>
        </a:graphic>
      </p:graphicFrame>
      <p:pic>
        <p:nvPicPr>
          <p:cNvPr id="46" name="Google Shape;46;p9"/>
          <p:cNvPicPr preferRelativeResize="0"/>
          <p:nvPr/>
        </p:nvPicPr>
        <p:blipFill>
          <a:blip r:embed="rId3">
            <a:alphaModFix/>
          </a:blip>
          <a:stretch>
            <a:fillRect/>
          </a:stretch>
        </p:blipFill>
        <p:spPr>
          <a:xfrm>
            <a:off x="0" y="4927225"/>
            <a:ext cx="9143999" cy="2162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10"/>
          <p:cNvSpPr txBox="1"/>
          <p:nvPr>
            <p:ph type="title"/>
          </p:nvPr>
        </p:nvSpPr>
        <p:spPr>
          <a:xfrm>
            <a:off x="437698" y="218000"/>
            <a:ext cx="70137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000"/>
              <a:t>Dataset Loading and Initial Analysis:</a:t>
            </a:r>
            <a:endParaRPr b="1" sz="2000"/>
          </a:p>
        </p:txBody>
      </p:sp>
      <p:graphicFrame>
        <p:nvGraphicFramePr>
          <p:cNvPr id="52" name="Google Shape;52;p10"/>
          <p:cNvGraphicFramePr/>
          <p:nvPr/>
        </p:nvGraphicFramePr>
        <p:xfrm>
          <a:off x="470125" y="1030675"/>
          <a:ext cx="3000000" cy="3000000"/>
        </p:xfrm>
        <a:graphic>
          <a:graphicData uri="http://schemas.openxmlformats.org/drawingml/2006/table">
            <a:tbl>
              <a:tblPr>
                <a:noFill/>
                <a:tableStyleId>{04802916-58F7-4A72-A372-689BE9D58692}</a:tableStyleId>
              </a:tblPr>
              <a:tblGrid>
                <a:gridCol w="7537350"/>
              </a:tblGrid>
              <a:tr h="3145375">
                <a:tc>
                  <a:txBody>
                    <a:bodyPr/>
                    <a:lstStyle/>
                    <a:p>
                      <a:pPr indent="0" lvl="0" marL="457200" rtl="0" algn="just">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Dataset loaded from </a:t>
                      </a:r>
                      <a:r>
                        <a:rPr lang="en" sz="1100">
                          <a:solidFill>
                            <a:schemeClr val="dk1"/>
                          </a:solidFill>
                          <a:latin typeface="Roboto Mono"/>
                          <a:ea typeface="Roboto Mono"/>
                          <a:cs typeface="Roboto Mono"/>
                          <a:sym typeface="Roboto Mono"/>
                        </a:rPr>
                        <a:t>features_3_sec.csv</a:t>
                      </a:r>
                      <a:r>
                        <a:rPr lang="en" sz="1100">
                          <a:solidFill>
                            <a:schemeClr val="dk1"/>
                          </a:solidFill>
                        </a:rPr>
                        <a:t> using Pandas.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Shape of dataset and number of samples examined.</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Genre label distribution analyzed.</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Checked for missing values across all columns.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Removed </a:t>
                      </a:r>
                      <a:r>
                        <a:rPr lang="en" sz="1100">
                          <a:solidFill>
                            <a:schemeClr val="dk1"/>
                          </a:solidFill>
                          <a:latin typeface="Roboto Mono"/>
                          <a:ea typeface="Roboto Mono"/>
                          <a:cs typeface="Roboto Mono"/>
                          <a:sym typeface="Roboto Mono"/>
                        </a:rPr>
                        <a:t>filename</a:t>
                      </a:r>
                      <a:r>
                        <a:rPr lang="en" sz="1100">
                          <a:solidFill>
                            <a:schemeClr val="dk1"/>
                          </a:solidFill>
                        </a:rPr>
                        <a:t> column as it has no predictive value.</a:t>
                      </a:r>
                      <a:endParaRPr sz="1100">
                        <a:solidFill>
                          <a:schemeClr val="dk1"/>
                        </a:solidFill>
                      </a:endParaRPr>
                    </a:p>
                    <a:p>
                      <a:pPr indent="0" lvl="0" marL="0" rtl="0" algn="just">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en" sz="1200">
                          <a:solidFill>
                            <a:schemeClr val="dk1"/>
                          </a:solidFill>
                          <a:latin typeface="Times New Roman"/>
                          <a:ea typeface="Times New Roman"/>
                          <a:cs typeface="Times New Roman"/>
                          <a:sym typeface="Times New Roman"/>
                        </a:rPr>
                        <a:t>After loading the dataset, an initial analysis was performed to understand its overall structure and quality. Examining the shape of the dataset helped determine the number of samples and features available for training. Analyzing the genre label distribution provided insight into class balance, which is important for building a reliable classification model. Checking for missing values ensured that the dataset did not contain incomplete entries that could affect model performance. Finally, removing the filename column helped eliminate irrelevant information, allowing the model to focus only on meaningful audio features.</a:t>
                      </a:r>
                      <a:endParaRPr sz="1200">
                        <a:solidFill>
                          <a:schemeClr val="dk1"/>
                        </a:solidFill>
                        <a:latin typeface="Times New Roman"/>
                        <a:ea typeface="Times New Roman"/>
                        <a:cs typeface="Times New Roman"/>
                        <a:sym typeface="Times New Roman"/>
                      </a:endParaRPr>
                    </a:p>
                  </a:txBody>
                  <a:tcPr marT="91425" marB="91425" marR="91425" marL="91425"/>
                </a:tc>
              </a:tr>
            </a:tbl>
          </a:graphicData>
        </a:graphic>
      </p:graphicFrame>
      <p:pic>
        <p:nvPicPr>
          <p:cNvPr id="53" name="Google Shape;53;p10"/>
          <p:cNvPicPr preferRelativeResize="0"/>
          <p:nvPr/>
        </p:nvPicPr>
        <p:blipFill>
          <a:blip r:embed="rId3">
            <a:alphaModFix/>
          </a:blip>
          <a:stretch>
            <a:fillRect/>
          </a:stretch>
        </p:blipFill>
        <p:spPr>
          <a:xfrm>
            <a:off x="0" y="4927225"/>
            <a:ext cx="9143999" cy="2162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1"/>
          <p:cNvSpPr txBox="1"/>
          <p:nvPr>
            <p:ph type="title"/>
          </p:nvPr>
        </p:nvSpPr>
        <p:spPr>
          <a:xfrm>
            <a:off x="457173" y="230975"/>
            <a:ext cx="70137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000"/>
              <a:t>Correlation Analysis and Heatmap:</a:t>
            </a:r>
            <a:endParaRPr b="1" sz="2000"/>
          </a:p>
        </p:txBody>
      </p:sp>
      <p:graphicFrame>
        <p:nvGraphicFramePr>
          <p:cNvPr id="59" name="Google Shape;59;p11"/>
          <p:cNvGraphicFramePr/>
          <p:nvPr/>
        </p:nvGraphicFramePr>
        <p:xfrm>
          <a:off x="457175" y="948650"/>
          <a:ext cx="3000000" cy="3000000"/>
        </p:xfrm>
        <a:graphic>
          <a:graphicData uri="http://schemas.openxmlformats.org/drawingml/2006/table">
            <a:tbl>
              <a:tblPr>
                <a:noFill/>
                <a:tableStyleId>{04802916-58F7-4A72-A372-689BE9D58692}</a:tableStyleId>
              </a:tblPr>
              <a:tblGrid>
                <a:gridCol w="7556825"/>
              </a:tblGrid>
              <a:tr h="3711200">
                <a:tc>
                  <a:txBody>
                    <a:bodyPr/>
                    <a:lstStyle/>
                    <a:p>
                      <a:pPr indent="0" lvl="0" marL="0" rtl="0" algn="just">
                        <a:spcBef>
                          <a:spcPts val="0"/>
                        </a:spcBef>
                        <a:spcAft>
                          <a:spcPts val="0"/>
                        </a:spcAft>
                        <a:buNone/>
                      </a:pPr>
                      <a:r>
                        <a:rPr lang="en" sz="1200">
                          <a:solidFill>
                            <a:schemeClr val="dk1"/>
                          </a:solidFill>
                          <a:latin typeface="Times New Roman"/>
                          <a:ea typeface="Times New Roman"/>
                          <a:cs typeface="Times New Roman"/>
                          <a:sym typeface="Times New Roman"/>
                        </a:rPr>
                        <a:t>Before performing the correlation analysis, the dataset was cleaned to ensure that only relevant and consistent numerical features were used. Features containing statistical mean values were selected because they provide stable and representative information about the audio signals. Computing the correlation matrix helped identify relationships between different audio features, including features that were strongly related or redundant. A triangular mask was applied to remove duplicate correlations and improve readability of the heatmap. The resulting heatmap provides a clear visual summary of how audio features interact with each other and helps in understanding feature dependencies that may influence model performance.</a:t>
                      </a:r>
                      <a:endParaRPr sz="12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304800" lvl="0" marL="457200" rtl="0" algn="just">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Selected all feature columns containing “mean”.</a:t>
                      </a:r>
                      <a:endParaRPr sz="1200">
                        <a:solidFill>
                          <a:schemeClr val="dk1"/>
                        </a:solidFill>
                        <a:latin typeface="Times New Roman"/>
                        <a:ea typeface="Times New Roman"/>
                        <a:cs typeface="Times New Roman"/>
                        <a:sym typeface="Times New Roman"/>
                      </a:endParaRPr>
                    </a:p>
                    <a:p>
                      <a:pPr indent="-304800" lvl="0" marL="457200" rtl="0" algn="just">
                        <a:lnSpc>
                          <a:spcPct val="115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Computed correlation matrix between selected features.</a:t>
                      </a:r>
                      <a:endParaRPr sz="1200">
                        <a:solidFill>
                          <a:schemeClr val="dk1"/>
                        </a:solidFill>
                        <a:latin typeface="Times New Roman"/>
                        <a:ea typeface="Times New Roman"/>
                        <a:cs typeface="Times New Roman"/>
                        <a:sym typeface="Times New Roman"/>
                      </a:endParaRPr>
                    </a:p>
                    <a:p>
                      <a:pPr indent="-304800" lvl="0" marL="457200" rtl="0" algn="just">
                        <a:lnSpc>
                          <a:spcPct val="115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Applied triangular masking to avoid redundancy.</a:t>
                      </a:r>
                      <a:endParaRPr sz="1200">
                        <a:solidFill>
                          <a:schemeClr val="dk1"/>
                        </a:solidFill>
                        <a:latin typeface="Times New Roman"/>
                        <a:ea typeface="Times New Roman"/>
                        <a:cs typeface="Times New Roman"/>
                        <a:sym typeface="Times New Roman"/>
                      </a:endParaRPr>
                    </a:p>
                    <a:p>
                      <a:pPr indent="-304800" lvl="0" marL="457200" rtl="0" algn="just">
                        <a:lnSpc>
                          <a:spcPct val="115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Used a diverging color map for clarity.</a:t>
                      </a:r>
                      <a:endParaRPr sz="1200">
                        <a:solidFill>
                          <a:schemeClr val="dk1"/>
                        </a:solidFill>
                        <a:latin typeface="Times New Roman"/>
                        <a:ea typeface="Times New Roman"/>
                        <a:cs typeface="Times New Roman"/>
                        <a:sym typeface="Times New Roman"/>
                      </a:endParaRPr>
                    </a:p>
                    <a:p>
                      <a:pPr indent="-304800" lvl="0" marL="457200" rtl="0" algn="just">
                        <a:lnSpc>
                          <a:spcPct val="115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Heatmap saved for documentation and analysis.</a:t>
                      </a:r>
                      <a:endParaRPr sz="12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200">
                        <a:solidFill>
                          <a:schemeClr val="dk1"/>
                        </a:solidFill>
                        <a:latin typeface="Times New Roman"/>
                        <a:ea typeface="Times New Roman"/>
                        <a:cs typeface="Times New Roman"/>
                        <a:sym typeface="Times New Roman"/>
                      </a:endParaRPr>
                    </a:p>
                  </a:txBody>
                  <a:tcPr marT="91425" marB="91425" marR="91425" marL="91425"/>
                </a:tc>
              </a:tr>
            </a:tbl>
          </a:graphicData>
        </a:graphic>
      </p:graphicFrame>
      <p:pic>
        <p:nvPicPr>
          <p:cNvPr id="60" name="Google Shape;60;p11"/>
          <p:cNvPicPr preferRelativeResize="0"/>
          <p:nvPr/>
        </p:nvPicPr>
        <p:blipFill>
          <a:blip r:embed="rId3">
            <a:alphaModFix/>
          </a:blip>
          <a:stretch>
            <a:fillRect/>
          </a:stretch>
        </p:blipFill>
        <p:spPr>
          <a:xfrm>
            <a:off x="0" y="4927225"/>
            <a:ext cx="9143999" cy="216275"/>
          </a:xfrm>
          <a:prstGeom prst="rect">
            <a:avLst/>
          </a:prstGeom>
          <a:noFill/>
          <a:ln>
            <a:noFill/>
          </a:ln>
        </p:spPr>
      </p:pic>
      <p:pic>
        <p:nvPicPr>
          <p:cNvPr id="61" name="Google Shape;61;p11"/>
          <p:cNvPicPr preferRelativeResize="0"/>
          <p:nvPr/>
        </p:nvPicPr>
        <p:blipFill>
          <a:blip r:embed="rId4">
            <a:alphaModFix/>
          </a:blip>
          <a:stretch>
            <a:fillRect/>
          </a:stretch>
        </p:blipFill>
        <p:spPr>
          <a:xfrm>
            <a:off x="4712050" y="2326575"/>
            <a:ext cx="2929524" cy="22331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2"/>
          <p:cNvSpPr txBox="1"/>
          <p:nvPr>
            <p:ph type="title"/>
          </p:nvPr>
        </p:nvSpPr>
        <p:spPr>
          <a:xfrm>
            <a:off x="450698" y="256925"/>
            <a:ext cx="70137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000"/>
              <a:t>Tempo (BPM) Analysis Across Genres:</a:t>
            </a:r>
            <a:endParaRPr b="1" sz="2000"/>
          </a:p>
        </p:txBody>
      </p:sp>
      <p:graphicFrame>
        <p:nvGraphicFramePr>
          <p:cNvPr id="67" name="Google Shape;67;p12"/>
          <p:cNvGraphicFramePr/>
          <p:nvPr/>
        </p:nvGraphicFramePr>
        <p:xfrm>
          <a:off x="450700" y="829625"/>
          <a:ext cx="3000000" cy="3000000"/>
        </p:xfrm>
        <a:graphic>
          <a:graphicData uri="http://schemas.openxmlformats.org/drawingml/2006/table">
            <a:tbl>
              <a:tblPr>
                <a:noFill/>
                <a:tableStyleId>{04802916-58F7-4A72-A372-689BE9D58692}</a:tableStyleId>
              </a:tblPr>
              <a:tblGrid>
                <a:gridCol w="7556825"/>
              </a:tblGrid>
              <a:tr h="3770425">
                <a:tc>
                  <a:txBody>
                    <a:bodyPr/>
                    <a:lstStyle/>
                    <a:p>
                      <a:pPr indent="-304800" lvl="0" marL="457200" rtl="0" algn="l">
                        <a:lnSpc>
                          <a:spcPct val="115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Tempo is a key musical feature that varies significantly between genres.</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To study this, a boxplot was created comparing BPM values for each genre label.</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The visualization highlights differences in central tempo tendencies.</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It also shows the spread and presence of outliers within genres.</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Some genres exhibit consistently higher tempos, while others are slower.</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This analysis helps connect musical intuition with numeric feature patterns.</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chemeClr val="dk1"/>
                        </a:solidFill>
                        <a:latin typeface="Times New Roman"/>
                        <a:ea typeface="Times New Roman"/>
                        <a:cs typeface="Times New Roman"/>
                        <a:sym typeface="Times New Roman"/>
                      </a:endParaRPr>
                    </a:p>
                  </a:txBody>
                  <a:tcPr marT="91425" marB="91425" marR="91425" marL="91425"/>
                </a:tc>
              </a:tr>
            </a:tbl>
          </a:graphicData>
        </a:graphic>
      </p:graphicFrame>
      <p:pic>
        <p:nvPicPr>
          <p:cNvPr id="68" name="Google Shape;68;p12"/>
          <p:cNvPicPr preferRelativeResize="0"/>
          <p:nvPr/>
        </p:nvPicPr>
        <p:blipFill>
          <a:blip r:embed="rId3">
            <a:alphaModFix/>
          </a:blip>
          <a:stretch>
            <a:fillRect/>
          </a:stretch>
        </p:blipFill>
        <p:spPr>
          <a:xfrm>
            <a:off x="0" y="4927225"/>
            <a:ext cx="9143999" cy="216275"/>
          </a:xfrm>
          <a:prstGeom prst="rect">
            <a:avLst/>
          </a:prstGeom>
          <a:noFill/>
          <a:ln>
            <a:noFill/>
          </a:ln>
        </p:spPr>
      </p:pic>
      <p:pic>
        <p:nvPicPr>
          <p:cNvPr id="69" name="Google Shape;69;p12"/>
          <p:cNvPicPr preferRelativeResize="0"/>
          <p:nvPr/>
        </p:nvPicPr>
        <p:blipFill>
          <a:blip r:embed="rId4">
            <a:alphaModFix/>
          </a:blip>
          <a:stretch>
            <a:fillRect/>
          </a:stretch>
        </p:blipFill>
        <p:spPr>
          <a:xfrm>
            <a:off x="2050737" y="2202450"/>
            <a:ext cx="4356749" cy="23976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3"/>
          <p:cNvSpPr txBox="1"/>
          <p:nvPr>
            <p:ph type="title"/>
          </p:nvPr>
        </p:nvSpPr>
        <p:spPr>
          <a:xfrm>
            <a:off x="563323" y="128650"/>
            <a:ext cx="70137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000"/>
              <a:t>Feature Scaling and PCA Visualization:</a:t>
            </a:r>
            <a:endParaRPr b="1" sz="2000"/>
          </a:p>
        </p:txBody>
      </p:sp>
      <p:graphicFrame>
        <p:nvGraphicFramePr>
          <p:cNvPr id="75" name="Google Shape;75;p13"/>
          <p:cNvGraphicFramePr/>
          <p:nvPr/>
        </p:nvGraphicFramePr>
        <p:xfrm>
          <a:off x="563325" y="701350"/>
          <a:ext cx="3000000" cy="3000000"/>
        </p:xfrm>
        <a:graphic>
          <a:graphicData uri="http://schemas.openxmlformats.org/drawingml/2006/table">
            <a:tbl>
              <a:tblPr>
                <a:noFill/>
                <a:tableStyleId>{04802916-58F7-4A72-A372-689BE9D58692}</a:tableStyleId>
              </a:tblPr>
              <a:tblGrid>
                <a:gridCol w="8302725"/>
              </a:tblGrid>
              <a:tr h="4026225">
                <a:tc>
                  <a:txBody>
                    <a:bodyPr/>
                    <a:lstStyle/>
                    <a:p>
                      <a:pPr indent="-298450" lvl="0" marL="457200" rtl="0" algn="l">
                        <a:lnSpc>
                          <a:spcPct val="115000"/>
                        </a:lnSpc>
                        <a:spcBef>
                          <a:spcPts val="0"/>
                        </a:spcBef>
                        <a:spcAft>
                          <a:spcPts val="0"/>
                        </a:spcAft>
                        <a:buClr>
                          <a:schemeClr val="dk1"/>
                        </a:buClr>
                        <a:buSzPts val="1100"/>
                        <a:buFont typeface="Times New Roman"/>
                        <a:buChar char="●"/>
                      </a:pPr>
                      <a:r>
                        <a:rPr lang="en" sz="1100">
                          <a:solidFill>
                            <a:schemeClr val="dk1"/>
                          </a:solidFill>
                          <a:latin typeface="Times New Roman"/>
                          <a:ea typeface="Times New Roman"/>
                          <a:cs typeface="Times New Roman"/>
                          <a:sym typeface="Times New Roman"/>
                        </a:rPr>
                        <a:t>Features normalized using MinMaxScaler.</a:t>
                      </a:r>
                      <a:endParaRPr sz="1100">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sz="1100">
                          <a:solidFill>
                            <a:schemeClr val="dk1"/>
                          </a:solidFill>
                          <a:latin typeface="Times New Roman"/>
                          <a:ea typeface="Times New Roman"/>
                          <a:cs typeface="Times New Roman"/>
                          <a:sym typeface="Times New Roman"/>
                        </a:rPr>
                        <a:t>Scaling ensures fair contribution of all features.</a:t>
                      </a:r>
                      <a:endParaRPr sz="1100">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sz="1100">
                          <a:solidFill>
                            <a:schemeClr val="dk1"/>
                          </a:solidFill>
                          <a:latin typeface="Times New Roman"/>
                          <a:ea typeface="Times New Roman"/>
                          <a:cs typeface="Times New Roman"/>
                          <a:sym typeface="Times New Roman"/>
                        </a:rPr>
                        <a:t>PCA applied to reduce data to two components.</a:t>
                      </a:r>
                      <a:endParaRPr sz="1100">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sz="1100">
                          <a:solidFill>
                            <a:schemeClr val="dk1"/>
                          </a:solidFill>
                          <a:latin typeface="Times New Roman"/>
                          <a:ea typeface="Times New Roman"/>
                          <a:cs typeface="Times New Roman"/>
                          <a:sym typeface="Times New Roman"/>
                        </a:rPr>
                        <a:t>PCA output combined with genre labels.</a:t>
                      </a:r>
                      <a:endParaRPr sz="1100">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sz="1100">
                          <a:solidFill>
                            <a:schemeClr val="dk1"/>
                          </a:solidFill>
                          <a:latin typeface="Times New Roman"/>
                          <a:ea typeface="Times New Roman"/>
                          <a:cs typeface="Times New Roman"/>
                          <a:sym typeface="Times New Roman"/>
                        </a:rPr>
                        <a:t>Scatter plot generated to visualize clustering.</a:t>
                      </a: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100">
                        <a:solidFill>
                          <a:schemeClr val="dk1"/>
                        </a:solidFill>
                        <a:latin typeface="Times New Roman"/>
                        <a:ea typeface="Times New Roman"/>
                        <a:cs typeface="Times New Roman"/>
                        <a:sym typeface="Times New Roman"/>
                      </a:endParaRPr>
                    </a:p>
                  </a:txBody>
                  <a:tcPr marT="91425" marB="91425" marR="91425" marL="91425"/>
                </a:tc>
              </a:tr>
            </a:tbl>
          </a:graphicData>
        </a:graphic>
      </p:graphicFrame>
      <p:pic>
        <p:nvPicPr>
          <p:cNvPr id="76" name="Google Shape;76;p13"/>
          <p:cNvPicPr preferRelativeResize="0"/>
          <p:nvPr/>
        </p:nvPicPr>
        <p:blipFill>
          <a:blip r:embed="rId3">
            <a:alphaModFix/>
          </a:blip>
          <a:stretch>
            <a:fillRect/>
          </a:stretch>
        </p:blipFill>
        <p:spPr>
          <a:xfrm>
            <a:off x="0" y="4927225"/>
            <a:ext cx="9143999" cy="216275"/>
          </a:xfrm>
          <a:prstGeom prst="rect">
            <a:avLst/>
          </a:prstGeom>
          <a:noFill/>
          <a:ln>
            <a:noFill/>
          </a:ln>
        </p:spPr>
      </p:pic>
      <p:pic>
        <p:nvPicPr>
          <p:cNvPr id="77" name="Google Shape;77;p13"/>
          <p:cNvPicPr preferRelativeResize="0"/>
          <p:nvPr/>
        </p:nvPicPr>
        <p:blipFill>
          <a:blip r:embed="rId4">
            <a:alphaModFix/>
          </a:blip>
          <a:stretch>
            <a:fillRect/>
          </a:stretch>
        </p:blipFill>
        <p:spPr>
          <a:xfrm>
            <a:off x="2371555" y="1834350"/>
            <a:ext cx="4686275" cy="28015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4"/>
          <p:cNvSpPr txBox="1"/>
          <p:nvPr>
            <p:ph type="title"/>
          </p:nvPr>
        </p:nvSpPr>
        <p:spPr>
          <a:xfrm>
            <a:off x="450673" y="107750"/>
            <a:ext cx="70137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000"/>
              <a:t>Interpretation of PCA Results:</a:t>
            </a:r>
            <a:endParaRPr b="1" sz="2000"/>
          </a:p>
        </p:txBody>
      </p:sp>
      <p:graphicFrame>
        <p:nvGraphicFramePr>
          <p:cNvPr id="83" name="Google Shape;83;p14"/>
          <p:cNvGraphicFramePr/>
          <p:nvPr/>
        </p:nvGraphicFramePr>
        <p:xfrm>
          <a:off x="450675" y="1012125"/>
          <a:ext cx="3000000" cy="3000000"/>
        </p:xfrm>
        <a:graphic>
          <a:graphicData uri="http://schemas.openxmlformats.org/drawingml/2006/table">
            <a:tbl>
              <a:tblPr>
                <a:noFill/>
                <a:tableStyleId>{04802916-58F7-4A72-A372-689BE9D58692}</a:tableStyleId>
              </a:tblPr>
              <a:tblGrid>
                <a:gridCol w="7556825"/>
              </a:tblGrid>
              <a:tr h="2966750">
                <a:tc>
                  <a:txBody>
                    <a:bodyPr/>
                    <a:lstStyle/>
                    <a:p>
                      <a:pPr indent="-304800" lvl="0" marL="457200" rtl="0" algn="just">
                        <a:lnSpc>
                          <a:spcPct val="115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The PCA scatter plot provides a simplified view of the dataset in two dimensions.</a:t>
                      </a:r>
                      <a:endParaRPr sz="1200">
                        <a:solidFill>
                          <a:schemeClr val="dk1"/>
                        </a:solidFill>
                        <a:latin typeface="Times New Roman"/>
                        <a:ea typeface="Times New Roman"/>
                        <a:cs typeface="Times New Roman"/>
                        <a:sym typeface="Times New Roman"/>
                      </a:endParaRPr>
                    </a:p>
                    <a:p>
                      <a:pPr indent="-304800" lvl="0" marL="457200" rtl="0" algn="just">
                        <a:lnSpc>
                          <a:spcPct val="115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Each point represents a music sample positioned by its principal components.</a:t>
                      </a:r>
                      <a:endParaRPr sz="1200">
                        <a:solidFill>
                          <a:schemeClr val="dk1"/>
                        </a:solidFill>
                        <a:latin typeface="Times New Roman"/>
                        <a:ea typeface="Times New Roman"/>
                        <a:cs typeface="Times New Roman"/>
                        <a:sym typeface="Times New Roman"/>
                      </a:endParaRPr>
                    </a:p>
                    <a:p>
                      <a:pPr indent="-304800" lvl="0" marL="457200" rtl="0" algn="just">
                        <a:lnSpc>
                          <a:spcPct val="115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Some genres appear in compact clusters, indicating similar feature patterns.</a:t>
                      </a:r>
                      <a:endParaRPr sz="1200">
                        <a:solidFill>
                          <a:schemeClr val="dk1"/>
                        </a:solidFill>
                        <a:latin typeface="Times New Roman"/>
                        <a:ea typeface="Times New Roman"/>
                        <a:cs typeface="Times New Roman"/>
                        <a:sym typeface="Times New Roman"/>
                      </a:endParaRPr>
                    </a:p>
                    <a:p>
                      <a:pPr indent="-304800" lvl="0" marL="457200" rtl="0" algn="just">
                        <a:lnSpc>
                          <a:spcPct val="115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Other genres overlap, showing that their audio characteristics are harder to separate.</a:t>
                      </a:r>
                      <a:endParaRPr sz="1200">
                        <a:solidFill>
                          <a:schemeClr val="dk1"/>
                        </a:solidFill>
                        <a:latin typeface="Times New Roman"/>
                        <a:ea typeface="Times New Roman"/>
                        <a:cs typeface="Times New Roman"/>
                        <a:sym typeface="Times New Roman"/>
                      </a:endParaRPr>
                    </a:p>
                    <a:p>
                      <a:pPr indent="-304800" lvl="0" marL="457200" rtl="0" algn="just">
                        <a:lnSpc>
                          <a:spcPct val="115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This overlap suggests that perfect classification may be challenging.</a:t>
                      </a:r>
                      <a:endParaRPr sz="1200">
                        <a:solidFill>
                          <a:schemeClr val="dk1"/>
                        </a:solidFill>
                        <a:latin typeface="Times New Roman"/>
                        <a:ea typeface="Times New Roman"/>
                        <a:cs typeface="Times New Roman"/>
                        <a:sym typeface="Times New Roman"/>
                      </a:endParaRPr>
                    </a:p>
                    <a:p>
                      <a:pPr indent="-304800" lvl="0" marL="457200" rtl="0" algn="just">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Overall, PCA helps set realistic expectations before model training begins.</a:t>
                      </a:r>
                      <a:endParaRPr sz="12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en" sz="1200">
                          <a:solidFill>
                            <a:schemeClr val="dk1"/>
                          </a:solidFill>
                          <a:latin typeface="Times New Roman"/>
                          <a:ea typeface="Times New Roman"/>
                          <a:cs typeface="Times New Roman"/>
                          <a:sym typeface="Times New Roman"/>
                        </a:rPr>
                        <a:t>            From the PCA plot from the previous slide, it is evident that some genres form relatively dense and localized regions, which indicates that their audio features share strong similarities. Genres such as classical and metal show partial separation along the principal components, suggesting that their spectral and temporal characteristics are more distinctive. However, several genres like pop, rock, and disco exhibit significant overlap, meaning their feature representations are closely related. This overlap highlights why genre classification is a challenging task, as boundaries between certain genres are not clearly defined. The visualization reinforces the need for a powerful nonlinear model, such as a CNN, to capture complex patterns beyond what linear dimensionality reduction can reveal.</a:t>
                      </a:r>
                      <a:endParaRPr sz="1200">
                        <a:solidFill>
                          <a:schemeClr val="dk1"/>
                        </a:solidFill>
                        <a:latin typeface="Times New Roman"/>
                        <a:ea typeface="Times New Roman"/>
                        <a:cs typeface="Times New Roman"/>
                        <a:sym typeface="Times New Roman"/>
                      </a:endParaRPr>
                    </a:p>
                  </a:txBody>
                  <a:tcPr marT="91425" marB="91425" marR="91425" marL="91425"/>
                </a:tc>
              </a:tr>
            </a:tbl>
          </a:graphicData>
        </a:graphic>
      </p:graphicFrame>
      <p:pic>
        <p:nvPicPr>
          <p:cNvPr id="84" name="Google Shape;84;p14"/>
          <p:cNvPicPr preferRelativeResize="0"/>
          <p:nvPr/>
        </p:nvPicPr>
        <p:blipFill>
          <a:blip r:embed="rId3">
            <a:alphaModFix/>
          </a:blip>
          <a:stretch>
            <a:fillRect/>
          </a:stretch>
        </p:blipFill>
        <p:spPr>
          <a:xfrm>
            <a:off x="0" y="4927225"/>
            <a:ext cx="9143999" cy="2162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5"/>
          <p:cNvSpPr txBox="1"/>
          <p:nvPr>
            <p:ph type="title"/>
          </p:nvPr>
        </p:nvSpPr>
        <p:spPr>
          <a:xfrm>
            <a:off x="457175" y="75325"/>
            <a:ext cx="7013700" cy="470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000"/>
              <a:t>MFCC Extraction from Raw Audio:</a:t>
            </a:r>
            <a:endParaRPr b="1" sz="2000"/>
          </a:p>
        </p:txBody>
      </p:sp>
      <p:graphicFrame>
        <p:nvGraphicFramePr>
          <p:cNvPr id="90" name="Google Shape;90;p15"/>
          <p:cNvGraphicFramePr/>
          <p:nvPr/>
        </p:nvGraphicFramePr>
        <p:xfrm>
          <a:off x="554475" y="786000"/>
          <a:ext cx="3000000" cy="3000000"/>
        </p:xfrm>
        <a:graphic>
          <a:graphicData uri="http://schemas.openxmlformats.org/drawingml/2006/table">
            <a:tbl>
              <a:tblPr>
                <a:noFill/>
                <a:tableStyleId>{04802916-58F7-4A72-A372-689BE9D58692}</a:tableStyleId>
              </a:tblPr>
              <a:tblGrid>
                <a:gridCol w="7552725"/>
              </a:tblGrid>
              <a:tr h="3530450">
                <a:tc>
                  <a:txBody>
                    <a:bodyPr/>
                    <a:lstStyle/>
                    <a:p>
                      <a:pPr indent="0" lvl="0" marL="0" rtl="0" algn="l">
                        <a:lnSpc>
                          <a:spcPct val="115000"/>
                        </a:lnSpc>
                        <a:spcBef>
                          <a:spcPts val="1200"/>
                        </a:spcBef>
                        <a:spcAft>
                          <a:spcPts val="0"/>
                        </a:spcAft>
                        <a:buNone/>
                      </a:pPr>
                      <a:r>
                        <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120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Audio loaded using Librosa at fixed sample rate</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Each track divided into equal time segments</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MFCCs extracted for each segment</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Segment-wise features improve temporal learning</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Data saved into structured JSON format.</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chemeClr val="dk1"/>
                        </a:solidFill>
                        <a:latin typeface="Times New Roman"/>
                        <a:ea typeface="Times New Roman"/>
                        <a:cs typeface="Times New Roman"/>
                        <a:sym typeface="Times New Roman"/>
                      </a:endParaRPr>
                    </a:p>
                  </a:txBody>
                  <a:tcPr marT="91425" marB="91425" marR="91425" marL="91425"/>
                </a:tc>
              </a:tr>
            </a:tbl>
          </a:graphicData>
        </a:graphic>
      </p:graphicFrame>
      <p:pic>
        <p:nvPicPr>
          <p:cNvPr id="91" name="Google Shape;91;p15"/>
          <p:cNvPicPr preferRelativeResize="0"/>
          <p:nvPr/>
        </p:nvPicPr>
        <p:blipFill>
          <a:blip r:embed="rId3">
            <a:alphaModFix/>
          </a:blip>
          <a:stretch>
            <a:fillRect/>
          </a:stretch>
        </p:blipFill>
        <p:spPr>
          <a:xfrm>
            <a:off x="0" y="4927225"/>
            <a:ext cx="9143999" cy="216275"/>
          </a:xfrm>
          <a:prstGeom prst="rect">
            <a:avLst/>
          </a:prstGeom>
          <a:noFill/>
          <a:ln>
            <a:noFill/>
          </a:ln>
        </p:spPr>
      </p:pic>
      <p:pic>
        <p:nvPicPr>
          <p:cNvPr id="92" name="Google Shape;92;p15"/>
          <p:cNvPicPr preferRelativeResize="0"/>
          <p:nvPr/>
        </p:nvPicPr>
        <p:blipFill>
          <a:blip r:embed="rId4">
            <a:alphaModFix/>
          </a:blip>
          <a:stretch>
            <a:fillRect/>
          </a:stretch>
        </p:blipFill>
        <p:spPr>
          <a:xfrm>
            <a:off x="1015125" y="2482450"/>
            <a:ext cx="6624000" cy="11480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pic>
        <p:nvPicPr>
          <p:cNvPr id="97" name="Google Shape;97;p16"/>
          <p:cNvPicPr preferRelativeResize="0"/>
          <p:nvPr/>
        </p:nvPicPr>
        <p:blipFill>
          <a:blip r:embed="rId3">
            <a:alphaModFix/>
          </a:blip>
          <a:stretch>
            <a:fillRect/>
          </a:stretch>
        </p:blipFill>
        <p:spPr>
          <a:xfrm>
            <a:off x="0" y="4927225"/>
            <a:ext cx="9143999" cy="216275"/>
          </a:xfrm>
          <a:prstGeom prst="rect">
            <a:avLst/>
          </a:prstGeom>
          <a:noFill/>
          <a:ln>
            <a:noFill/>
          </a:ln>
        </p:spPr>
      </p:pic>
      <p:graphicFrame>
        <p:nvGraphicFramePr>
          <p:cNvPr id="98" name="Google Shape;98;p16"/>
          <p:cNvGraphicFramePr/>
          <p:nvPr/>
        </p:nvGraphicFramePr>
        <p:xfrm>
          <a:off x="483125" y="686538"/>
          <a:ext cx="3000000" cy="3000000"/>
        </p:xfrm>
        <a:graphic>
          <a:graphicData uri="http://schemas.openxmlformats.org/drawingml/2006/table">
            <a:tbl>
              <a:tblPr>
                <a:noFill/>
                <a:tableStyleId>{04802916-58F7-4A72-A372-689BE9D58692}</a:tableStyleId>
              </a:tblPr>
              <a:tblGrid>
                <a:gridCol w="7552725"/>
              </a:tblGrid>
              <a:tr h="3770425">
                <a:tc>
                  <a:txBody>
                    <a:bodyPr/>
                    <a:lstStyle/>
                    <a:p>
                      <a:pPr indent="0" lvl="0" marL="0" rtl="0" algn="just">
                        <a:lnSpc>
                          <a:spcPct val="115000"/>
                        </a:lnSpc>
                        <a:spcBef>
                          <a:spcPts val="1200"/>
                        </a:spcBef>
                        <a:spcAft>
                          <a:spcPts val="0"/>
                        </a:spcAft>
                        <a:buNone/>
                      </a:pPr>
                      <a:r>
                        <a:rPr b="1" lang="en" sz="1100">
                          <a:solidFill>
                            <a:schemeClr val="dk1"/>
                          </a:solidFill>
                        </a:rPr>
                        <a:t>CNN Model Architecture and Training:</a:t>
                      </a:r>
                      <a:br>
                        <a:rPr b="1" lang="en" sz="1100">
                          <a:solidFill>
                            <a:schemeClr val="dk1"/>
                          </a:solidFill>
                        </a:rPr>
                      </a:br>
                      <a:r>
                        <a:rPr b="1" lang="en" sz="1100">
                          <a:solidFill>
                            <a:schemeClr val="dk1"/>
                          </a:solidFill>
                        </a:rPr>
                        <a:t>         </a:t>
                      </a:r>
                      <a:r>
                        <a:rPr lang="en" sz="1100">
                          <a:solidFill>
                            <a:schemeClr val="dk1"/>
                          </a:solidFill>
                        </a:rPr>
                        <a:t>In this work, a deep CNN model is designed to learn discriminative patterns of MFCC feature maps using multiple convolutional layers that hierarchically extract audio representations. Such convolutional layers allow the network to capture both low- and high-order features related to different genres of music. To stabilize training and improve the convergence speed, batch normalization layers have been included. Dropout has been used to prevent overfitting by randomly disabling neurons during training. After feature extraction, a dense layer then aggregates the learned representations before classification. A softmax output layer, in the end, provided probability scores across all ten categories of music genres so that the network can make confident and interpretable predictions.</a:t>
                      </a:r>
                      <a:br>
                        <a:rPr lang="en" sz="1100">
                          <a:solidFill>
                            <a:schemeClr val="dk1"/>
                          </a:solidFill>
                        </a:rPr>
                      </a:b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The CNN model was designed to learn patterns from MFCC feature maps.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Multiple convolutional layers extract hierarchical audio representations.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Batch normalization stabilizes training and improves convergence speed.</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Dropout layers reduce overfitting by randomly disabling neurons.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A dense layer combines learned features before classification.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The softmax output layer predicts probabilities for ten music genres.</a:t>
                      </a:r>
                      <a:endParaRPr sz="1100">
                        <a:solidFill>
                          <a:schemeClr val="dk1"/>
                        </a:solidFill>
                      </a:endParaRPr>
                    </a:p>
                  </a:txBody>
                  <a:tcPr marT="91425" marB="91425" marR="91425" marL="91425"/>
                </a:tc>
              </a:tr>
            </a:tbl>
          </a:graphicData>
        </a:graphic>
      </p:graphicFrame>
      <p:sp>
        <p:nvSpPr>
          <p:cNvPr id="99" name="Google Shape;99;p16"/>
          <p:cNvSpPr txBox="1"/>
          <p:nvPr>
            <p:ph type="title"/>
          </p:nvPr>
        </p:nvSpPr>
        <p:spPr>
          <a:xfrm>
            <a:off x="470125" y="140200"/>
            <a:ext cx="7013700" cy="470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000"/>
              <a:t>Model Architecture:</a:t>
            </a:r>
            <a:endParaRPr b="1" sz="2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7"/>
          <p:cNvSpPr txBox="1"/>
          <p:nvPr>
            <p:ph type="title"/>
          </p:nvPr>
        </p:nvSpPr>
        <p:spPr>
          <a:xfrm>
            <a:off x="470125" y="140200"/>
            <a:ext cx="7013700" cy="470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000"/>
              <a:t>Model Evaluation and Testing:</a:t>
            </a:r>
            <a:endParaRPr b="1" sz="2000"/>
          </a:p>
        </p:txBody>
      </p:sp>
      <p:graphicFrame>
        <p:nvGraphicFramePr>
          <p:cNvPr id="105" name="Google Shape;105;p17"/>
          <p:cNvGraphicFramePr/>
          <p:nvPr/>
        </p:nvGraphicFramePr>
        <p:xfrm>
          <a:off x="470125" y="662775"/>
          <a:ext cx="3000000" cy="3000000"/>
        </p:xfrm>
        <a:graphic>
          <a:graphicData uri="http://schemas.openxmlformats.org/drawingml/2006/table">
            <a:tbl>
              <a:tblPr>
                <a:noFill/>
                <a:tableStyleId>{04802916-58F7-4A72-A372-689BE9D58692}</a:tableStyleId>
              </a:tblPr>
              <a:tblGrid>
                <a:gridCol w="8266200"/>
              </a:tblGrid>
              <a:tr h="4160675">
                <a:tc>
                  <a:txBody>
                    <a:bodyPr/>
                    <a:lstStyle/>
                    <a:p>
                      <a:pPr indent="-304800" lvl="0" marL="457200" rtl="0" algn="just">
                        <a:lnSpc>
                          <a:spcPct val="115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The trained model was evaluated using a held-out test dataset.</a:t>
                      </a:r>
                      <a:endParaRPr sz="1200">
                        <a:solidFill>
                          <a:schemeClr val="dk1"/>
                        </a:solidFill>
                        <a:latin typeface="Times New Roman"/>
                        <a:ea typeface="Times New Roman"/>
                        <a:cs typeface="Times New Roman"/>
                        <a:sym typeface="Times New Roman"/>
                      </a:endParaRPr>
                    </a:p>
                    <a:p>
                      <a:pPr indent="-304800" lvl="0" marL="457200" rtl="0" algn="just">
                        <a:lnSpc>
                          <a:spcPct val="115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Accuracy and loss curves were analyzed to assess learning behavior.</a:t>
                      </a:r>
                      <a:endParaRPr sz="1200">
                        <a:solidFill>
                          <a:schemeClr val="dk1"/>
                        </a:solidFill>
                        <a:latin typeface="Times New Roman"/>
                        <a:ea typeface="Times New Roman"/>
                        <a:cs typeface="Times New Roman"/>
                        <a:sym typeface="Times New Roman"/>
                      </a:endParaRPr>
                    </a:p>
                    <a:p>
                      <a:pPr indent="-304800" lvl="0" marL="457200" rtl="0" algn="just">
                        <a:lnSpc>
                          <a:spcPct val="115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Early stopping prevented unnecessary training once validation performance stabilized.</a:t>
                      </a:r>
                      <a:endParaRPr sz="1200">
                        <a:solidFill>
                          <a:schemeClr val="dk1"/>
                        </a:solidFill>
                        <a:latin typeface="Times New Roman"/>
                        <a:ea typeface="Times New Roman"/>
                        <a:cs typeface="Times New Roman"/>
                        <a:sym typeface="Times New Roman"/>
                      </a:endParaRPr>
                    </a:p>
                    <a:p>
                      <a:pPr indent="-304800" lvl="0" marL="457200" rtl="0" algn="just">
                        <a:lnSpc>
                          <a:spcPct val="115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The final model was saved and reloaded to confirm persistence.</a:t>
                      </a:r>
                      <a:endParaRPr sz="1200">
                        <a:solidFill>
                          <a:schemeClr val="dk1"/>
                        </a:solidFill>
                        <a:latin typeface="Times New Roman"/>
                        <a:ea typeface="Times New Roman"/>
                        <a:cs typeface="Times New Roman"/>
                        <a:sym typeface="Times New Roman"/>
                      </a:endParaRPr>
                    </a:p>
                    <a:p>
                      <a:pPr indent="-304800" lvl="0" marL="457200" rtl="0" algn="just">
                        <a:lnSpc>
                          <a:spcPct val="115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Random test samples were predicted to manually verify results.</a:t>
                      </a:r>
                      <a:endParaRPr sz="1200">
                        <a:solidFill>
                          <a:schemeClr val="dk1"/>
                        </a:solidFill>
                        <a:latin typeface="Times New Roman"/>
                        <a:ea typeface="Times New Roman"/>
                        <a:cs typeface="Times New Roman"/>
                        <a:sym typeface="Times New Roman"/>
                      </a:endParaRPr>
                    </a:p>
                    <a:p>
                      <a:pPr indent="-304800" lvl="0" marL="457200" rtl="0" algn="just">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Performance consistency confirmed that the model generalized well.</a:t>
                      </a:r>
                      <a:endParaRPr sz="1200">
                        <a:solidFill>
                          <a:schemeClr val="dk1"/>
                        </a:solidFill>
                        <a:latin typeface="Times New Roman"/>
                        <a:ea typeface="Times New Roman"/>
                        <a:cs typeface="Times New Roman"/>
                        <a:sym typeface="Times New Roman"/>
                      </a:endParaRPr>
                    </a:p>
                  </a:txBody>
                  <a:tcPr marT="91425" marB="91425" marR="91425" marL="91425"/>
                </a:tc>
              </a:tr>
            </a:tbl>
          </a:graphicData>
        </a:graphic>
      </p:graphicFrame>
      <p:pic>
        <p:nvPicPr>
          <p:cNvPr id="106" name="Google Shape;106;p17"/>
          <p:cNvPicPr preferRelativeResize="0"/>
          <p:nvPr/>
        </p:nvPicPr>
        <p:blipFill>
          <a:blip r:embed="rId3">
            <a:alphaModFix/>
          </a:blip>
          <a:stretch>
            <a:fillRect/>
          </a:stretch>
        </p:blipFill>
        <p:spPr>
          <a:xfrm>
            <a:off x="0" y="4927225"/>
            <a:ext cx="9143999" cy="216275"/>
          </a:xfrm>
          <a:prstGeom prst="rect">
            <a:avLst/>
          </a:prstGeom>
          <a:noFill/>
          <a:ln>
            <a:noFill/>
          </a:ln>
        </p:spPr>
      </p:pic>
      <p:pic>
        <p:nvPicPr>
          <p:cNvPr id="107" name="Google Shape;107;p17"/>
          <p:cNvPicPr preferRelativeResize="0"/>
          <p:nvPr/>
        </p:nvPicPr>
        <p:blipFill rotWithShape="1">
          <a:blip r:embed="rId4">
            <a:alphaModFix/>
          </a:blip>
          <a:srcRect b="0" l="0" r="70256" t="0"/>
          <a:stretch/>
        </p:blipFill>
        <p:spPr>
          <a:xfrm>
            <a:off x="1312850" y="2264950"/>
            <a:ext cx="2113302" cy="2213000"/>
          </a:xfrm>
          <a:prstGeom prst="rect">
            <a:avLst/>
          </a:prstGeom>
          <a:noFill/>
          <a:ln>
            <a:noFill/>
          </a:ln>
        </p:spPr>
      </p:pic>
      <p:pic>
        <p:nvPicPr>
          <p:cNvPr id="108" name="Google Shape;108;p17"/>
          <p:cNvPicPr preferRelativeResize="0"/>
          <p:nvPr/>
        </p:nvPicPr>
        <p:blipFill>
          <a:blip r:embed="rId5">
            <a:alphaModFix/>
          </a:blip>
          <a:stretch>
            <a:fillRect/>
          </a:stretch>
        </p:blipFill>
        <p:spPr>
          <a:xfrm>
            <a:off x="4142599" y="2071050"/>
            <a:ext cx="3631851" cy="26008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8"/>
          <p:cNvSpPr txBox="1"/>
          <p:nvPr>
            <p:ph type="title"/>
          </p:nvPr>
        </p:nvSpPr>
        <p:spPr>
          <a:xfrm>
            <a:off x="450700" y="146675"/>
            <a:ext cx="7013700" cy="470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000"/>
              <a:t>Results</a:t>
            </a:r>
            <a:r>
              <a:rPr b="1" lang="en" sz="2000"/>
              <a:t>:</a:t>
            </a:r>
            <a:endParaRPr b="1" sz="2000"/>
          </a:p>
        </p:txBody>
      </p:sp>
      <p:pic>
        <p:nvPicPr>
          <p:cNvPr id="114" name="Google Shape;114;p18"/>
          <p:cNvPicPr preferRelativeResize="0"/>
          <p:nvPr/>
        </p:nvPicPr>
        <p:blipFill>
          <a:blip r:embed="rId3">
            <a:alphaModFix/>
          </a:blip>
          <a:stretch>
            <a:fillRect/>
          </a:stretch>
        </p:blipFill>
        <p:spPr>
          <a:xfrm>
            <a:off x="0" y="4927225"/>
            <a:ext cx="9143999" cy="216275"/>
          </a:xfrm>
          <a:prstGeom prst="rect">
            <a:avLst/>
          </a:prstGeom>
          <a:noFill/>
          <a:ln>
            <a:noFill/>
          </a:ln>
        </p:spPr>
      </p:pic>
      <p:graphicFrame>
        <p:nvGraphicFramePr>
          <p:cNvPr id="115" name="Google Shape;115;p18"/>
          <p:cNvGraphicFramePr/>
          <p:nvPr/>
        </p:nvGraphicFramePr>
        <p:xfrm>
          <a:off x="795625" y="917613"/>
          <a:ext cx="3000000" cy="3000000"/>
        </p:xfrm>
        <a:graphic>
          <a:graphicData uri="http://schemas.openxmlformats.org/drawingml/2006/table">
            <a:tbl>
              <a:tblPr>
                <a:noFill/>
                <a:tableStyleId>{04802916-58F7-4A72-A372-689BE9D58692}</a:tableStyleId>
              </a:tblPr>
              <a:tblGrid>
                <a:gridCol w="7552725"/>
              </a:tblGrid>
              <a:tr h="581250">
                <a:tc>
                  <a:txBody>
                    <a:bodyPr/>
                    <a:lstStyle/>
                    <a:p>
                      <a:pPr indent="0" lvl="0" marL="0" rtl="0" algn="just">
                        <a:spcBef>
                          <a:spcPts val="0"/>
                        </a:spcBef>
                        <a:spcAft>
                          <a:spcPts val="0"/>
                        </a:spcAft>
                        <a:buNone/>
                      </a:pPr>
                      <a:r>
                        <a:rPr lang="en" sz="1100">
                          <a:solidFill>
                            <a:schemeClr val="dk1"/>
                          </a:solidFill>
                        </a:rPr>
                        <a:t>Confusion Matrix:</a:t>
                      </a:r>
                      <a:endParaRPr sz="1100">
                        <a:solidFill>
                          <a:schemeClr val="dk1"/>
                        </a:solidFill>
                      </a:endParaRPr>
                    </a:p>
                    <a:p>
                      <a:pPr indent="-298450" lvl="0" marL="457200" rtl="0" algn="just">
                        <a:spcBef>
                          <a:spcPts val="0"/>
                        </a:spcBef>
                        <a:spcAft>
                          <a:spcPts val="0"/>
                        </a:spcAft>
                        <a:buClr>
                          <a:schemeClr val="dk1"/>
                        </a:buClr>
                        <a:buSzPts val="1100"/>
                        <a:buChar char="●"/>
                      </a:pPr>
                      <a:r>
                        <a:rPr lang="en" sz="1100">
                          <a:solidFill>
                            <a:schemeClr val="dk1"/>
                          </a:solidFill>
                        </a:rPr>
                        <a:t>The confusion matrix highlights where the model struggles, not just overall accuracy.</a:t>
                      </a:r>
                      <a:endParaRPr sz="1100">
                        <a:solidFill>
                          <a:schemeClr val="dk1"/>
                        </a:solidFill>
                      </a:endParaRPr>
                    </a:p>
                    <a:p>
                      <a:pPr indent="-298450" lvl="0" marL="457200" rtl="0" algn="just">
                        <a:spcBef>
                          <a:spcPts val="0"/>
                        </a:spcBef>
                        <a:spcAft>
                          <a:spcPts val="0"/>
                        </a:spcAft>
                        <a:buClr>
                          <a:schemeClr val="dk1"/>
                        </a:buClr>
                        <a:buSzPts val="1100"/>
                        <a:buChar char="●"/>
                      </a:pPr>
                      <a:r>
                        <a:rPr lang="en" sz="1100">
                          <a:solidFill>
                            <a:schemeClr val="dk1"/>
                          </a:solidFill>
                        </a:rPr>
                        <a:t>It provides insight into genre similarity and limitations of MFCC-based representations.</a:t>
                      </a:r>
                      <a:endParaRPr sz="1100">
                        <a:solidFill>
                          <a:schemeClr val="dk1"/>
                        </a:solidFill>
                      </a:endParaRPr>
                    </a:p>
                    <a:p>
                      <a:pPr indent="0" lvl="0" marL="0" rtl="0" algn="just">
                        <a:spcBef>
                          <a:spcPts val="0"/>
                        </a:spcBef>
                        <a:spcAft>
                          <a:spcPts val="0"/>
                        </a:spcAft>
                        <a:buNone/>
                      </a:pPr>
                      <a:r>
                        <a:t/>
                      </a:r>
                      <a:endParaRPr sz="1200">
                        <a:solidFill>
                          <a:schemeClr val="dk1"/>
                        </a:solidFill>
                        <a:latin typeface="Times New Roman"/>
                        <a:ea typeface="Times New Roman"/>
                        <a:cs typeface="Times New Roman"/>
                        <a:sym typeface="Times New Roman"/>
                      </a:endParaRPr>
                    </a:p>
                  </a:txBody>
                  <a:tcPr marT="91425" marB="91425" marR="91425" marL="91425"/>
                </a:tc>
              </a:tr>
            </a:tbl>
          </a:graphicData>
        </a:graphic>
      </p:graphicFrame>
      <p:pic>
        <p:nvPicPr>
          <p:cNvPr id="116" name="Google Shape;116;p18"/>
          <p:cNvPicPr preferRelativeResize="0"/>
          <p:nvPr/>
        </p:nvPicPr>
        <p:blipFill>
          <a:blip r:embed="rId4">
            <a:alphaModFix/>
          </a:blip>
          <a:stretch>
            <a:fillRect/>
          </a:stretch>
        </p:blipFill>
        <p:spPr>
          <a:xfrm>
            <a:off x="3078887" y="2086524"/>
            <a:ext cx="2986250" cy="26659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9"/>
          <p:cNvSpPr txBox="1"/>
          <p:nvPr>
            <p:ph type="title"/>
          </p:nvPr>
        </p:nvSpPr>
        <p:spPr>
          <a:xfrm>
            <a:off x="450700" y="146675"/>
            <a:ext cx="7013700" cy="470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000"/>
              <a:t>Results:</a:t>
            </a:r>
            <a:endParaRPr b="1" sz="2000"/>
          </a:p>
        </p:txBody>
      </p:sp>
      <p:pic>
        <p:nvPicPr>
          <p:cNvPr id="122" name="Google Shape;122;p19"/>
          <p:cNvPicPr preferRelativeResize="0"/>
          <p:nvPr/>
        </p:nvPicPr>
        <p:blipFill>
          <a:blip r:embed="rId3">
            <a:alphaModFix/>
          </a:blip>
          <a:stretch>
            <a:fillRect/>
          </a:stretch>
        </p:blipFill>
        <p:spPr>
          <a:xfrm>
            <a:off x="0" y="4927225"/>
            <a:ext cx="9143999" cy="216275"/>
          </a:xfrm>
          <a:prstGeom prst="rect">
            <a:avLst/>
          </a:prstGeom>
          <a:noFill/>
          <a:ln>
            <a:noFill/>
          </a:ln>
        </p:spPr>
      </p:pic>
      <p:graphicFrame>
        <p:nvGraphicFramePr>
          <p:cNvPr id="123" name="Google Shape;123;p19"/>
          <p:cNvGraphicFramePr/>
          <p:nvPr/>
        </p:nvGraphicFramePr>
        <p:xfrm>
          <a:off x="795625" y="917613"/>
          <a:ext cx="3000000" cy="3000000"/>
        </p:xfrm>
        <a:graphic>
          <a:graphicData uri="http://schemas.openxmlformats.org/drawingml/2006/table">
            <a:tbl>
              <a:tblPr>
                <a:noFill/>
                <a:tableStyleId>{04802916-58F7-4A72-A372-689BE9D58692}</a:tableStyleId>
              </a:tblPr>
              <a:tblGrid>
                <a:gridCol w="7552725"/>
              </a:tblGrid>
              <a:tr h="581250">
                <a:tc>
                  <a:txBody>
                    <a:bodyPr/>
                    <a:lstStyle/>
                    <a:p>
                      <a:pPr indent="0" lvl="0" marL="0" rtl="0" algn="just">
                        <a:spcBef>
                          <a:spcPts val="0"/>
                        </a:spcBef>
                        <a:spcAft>
                          <a:spcPts val="0"/>
                        </a:spcAft>
                        <a:buNone/>
                      </a:pPr>
                      <a:r>
                        <a:rPr lang="en" sz="1100">
                          <a:solidFill>
                            <a:schemeClr val="dk1"/>
                          </a:solidFill>
                        </a:rPr>
                        <a:t>ROC Curves:</a:t>
                      </a:r>
                      <a:endParaRPr sz="1100">
                        <a:solidFill>
                          <a:schemeClr val="dk1"/>
                        </a:solidFill>
                      </a:endParaRPr>
                    </a:p>
                    <a:p>
                      <a:pPr indent="-298450" lvl="0" marL="457200" rtl="0" algn="just">
                        <a:spcBef>
                          <a:spcPts val="0"/>
                        </a:spcBef>
                        <a:spcAft>
                          <a:spcPts val="0"/>
                        </a:spcAft>
                        <a:buClr>
                          <a:schemeClr val="dk1"/>
                        </a:buClr>
                        <a:buSzPts val="1100"/>
                        <a:buChar char="●"/>
                      </a:pPr>
                      <a:r>
                        <a:rPr lang="en" sz="1100">
                          <a:solidFill>
                            <a:schemeClr val="dk1"/>
                          </a:solidFill>
                        </a:rPr>
                        <a:t>ROC curves confirm that the model’s predictions are probabilistically meaningful, not just correct by chance.</a:t>
                      </a:r>
                      <a:endParaRPr sz="1100">
                        <a:solidFill>
                          <a:schemeClr val="dk1"/>
                        </a:solidFill>
                      </a:endParaRPr>
                    </a:p>
                    <a:p>
                      <a:pPr indent="-298450" lvl="0" marL="457200" rtl="0" algn="just">
                        <a:spcBef>
                          <a:spcPts val="0"/>
                        </a:spcBef>
                        <a:spcAft>
                          <a:spcPts val="0"/>
                        </a:spcAft>
                        <a:buClr>
                          <a:schemeClr val="dk1"/>
                        </a:buClr>
                        <a:buSzPts val="1100"/>
                        <a:buChar char="●"/>
                      </a:pPr>
                      <a:r>
                        <a:rPr lang="en" sz="1100">
                          <a:solidFill>
                            <a:schemeClr val="dk1"/>
                          </a:solidFill>
                        </a:rPr>
                        <a:t>High AUC values indicate that MFCC features are effective for genre discrimination.</a:t>
                      </a:r>
                      <a:endParaRPr sz="1100">
                        <a:solidFill>
                          <a:schemeClr val="dk1"/>
                        </a:solidFill>
                      </a:endParaRPr>
                    </a:p>
                    <a:p>
                      <a:pPr indent="0" lvl="0" marL="0" rtl="0" algn="just">
                        <a:spcBef>
                          <a:spcPts val="0"/>
                        </a:spcBef>
                        <a:spcAft>
                          <a:spcPts val="0"/>
                        </a:spcAft>
                        <a:buNone/>
                      </a:pPr>
                      <a:r>
                        <a:t/>
                      </a:r>
                      <a:endParaRPr sz="1100">
                        <a:solidFill>
                          <a:schemeClr val="dk1"/>
                        </a:solidFill>
                      </a:endParaRPr>
                    </a:p>
                    <a:p>
                      <a:pPr indent="0" lvl="0" marL="0" rtl="0" algn="just">
                        <a:spcBef>
                          <a:spcPts val="0"/>
                        </a:spcBef>
                        <a:spcAft>
                          <a:spcPts val="0"/>
                        </a:spcAft>
                        <a:buNone/>
                      </a:pPr>
                      <a:r>
                        <a:t/>
                      </a:r>
                      <a:endParaRPr sz="1200">
                        <a:solidFill>
                          <a:schemeClr val="dk1"/>
                        </a:solidFill>
                        <a:latin typeface="Times New Roman"/>
                        <a:ea typeface="Times New Roman"/>
                        <a:cs typeface="Times New Roman"/>
                        <a:sym typeface="Times New Roman"/>
                      </a:endParaRPr>
                    </a:p>
                  </a:txBody>
                  <a:tcPr marT="91425" marB="91425" marR="91425" marL="91425"/>
                </a:tc>
              </a:tr>
            </a:tbl>
          </a:graphicData>
        </a:graphic>
      </p:graphicFrame>
      <p:pic>
        <p:nvPicPr>
          <p:cNvPr id="124" name="Google Shape;124;p19"/>
          <p:cNvPicPr preferRelativeResize="0"/>
          <p:nvPr/>
        </p:nvPicPr>
        <p:blipFill>
          <a:blip r:embed="rId4">
            <a:alphaModFix/>
          </a:blip>
          <a:stretch>
            <a:fillRect/>
          </a:stretch>
        </p:blipFill>
        <p:spPr>
          <a:xfrm>
            <a:off x="2643025" y="2091062"/>
            <a:ext cx="3857913" cy="283616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0"/>
          <p:cNvSpPr txBox="1"/>
          <p:nvPr>
            <p:ph type="title"/>
          </p:nvPr>
        </p:nvSpPr>
        <p:spPr>
          <a:xfrm>
            <a:off x="450700" y="146675"/>
            <a:ext cx="7013700" cy="470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000"/>
              <a:t>Results:</a:t>
            </a:r>
            <a:endParaRPr b="1" sz="2000"/>
          </a:p>
        </p:txBody>
      </p:sp>
      <p:pic>
        <p:nvPicPr>
          <p:cNvPr id="130" name="Google Shape;130;p20"/>
          <p:cNvPicPr preferRelativeResize="0"/>
          <p:nvPr/>
        </p:nvPicPr>
        <p:blipFill>
          <a:blip r:embed="rId3">
            <a:alphaModFix/>
          </a:blip>
          <a:stretch>
            <a:fillRect/>
          </a:stretch>
        </p:blipFill>
        <p:spPr>
          <a:xfrm>
            <a:off x="0" y="4927225"/>
            <a:ext cx="9143999" cy="216275"/>
          </a:xfrm>
          <a:prstGeom prst="rect">
            <a:avLst/>
          </a:prstGeom>
          <a:noFill/>
          <a:ln>
            <a:noFill/>
          </a:ln>
        </p:spPr>
      </p:pic>
      <p:graphicFrame>
        <p:nvGraphicFramePr>
          <p:cNvPr id="131" name="Google Shape;131;p20"/>
          <p:cNvGraphicFramePr/>
          <p:nvPr/>
        </p:nvGraphicFramePr>
        <p:xfrm>
          <a:off x="795625" y="917613"/>
          <a:ext cx="3000000" cy="3000000"/>
        </p:xfrm>
        <a:graphic>
          <a:graphicData uri="http://schemas.openxmlformats.org/drawingml/2006/table">
            <a:tbl>
              <a:tblPr>
                <a:noFill/>
                <a:tableStyleId>{04802916-58F7-4A72-A372-689BE9D58692}</a:tableStyleId>
              </a:tblPr>
              <a:tblGrid>
                <a:gridCol w="7552725"/>
              </a:tblGrid>
              <a:tr h="581250">
                <a:tc>
                  <a:txBody>
                    <a:bodyPr/>
                    <a:lstStyle/>
                    <a:p>
                      <a:pPr indent="0" lvl="0" marL="0" rtl="0" algn="just">
                        <a:spcBef>
                          <a:spcPts val="0"/>
                        </a:spcBef>
                        <a:spcAft>
                          <a:spcPts val="0"/>
                        </a:spcAft>
                        <a:buNone/>
                      </a:pPr>
                      <a:r>
                        <a:rPr lang="en" sz="1100">
                          <a:solidFill>
                            <a:schemeClr val="dk1"/>
                          </a:solidFill>
                        </a:rPr>
                        <a:t>Segment-Wise Predicted Class: </a:t>
                      </a:r>
                      <a:endParaRPr sz="1100">
                        <a:solidFill>
                          <a:schemeClr val="dk1"/>
                        </a:solidFill>
                      </a:endParaRPr>
                    </a:p>
                    <a:p>
                      <a:pPr indent="-298450" lvl="0" marL="457200" rtl="0" algn="just">
                        <a:spcBef>
                          <a:spcPts val="0"/>
                        </a:spcBef>
                        <a:spcAft>
                          <a:spcPts val="0"/>
                        </a:spcAft>
                        <a:buClr>
                          <a:schemeClr val="dk1"/>
                        </a:buClr>
                        <a:buSzPts val="1100"/>
                        <a:buChar char="●"/>
                      </a:pPr>
                      <a:r>
                        <a:rPr lang="en" sz="1100">
                          <a:solidFill>
                            <a:schemeClr val="dk1"/>
                          </a:solidFill>
                        </a:rPr>
                        <a:t>Validates the </a:t>
                      </a:r>
                      <a:r>
                        <a:rPr b="1" lang="en" sz="1100">
                          <a:solidFill>
                            <a:schemeClr val="dk1"/>
                          </a:solidFill>
                        </a:rPr>
                        <a:t>segment-averaging strategy</a:t>
                      </a:r>
                      <a:r>
                        <a:rPr lang="en" sz="1100">
                          <a:solidFill>
                            <a:schemeClr val="dk1"/>
                          </a:solidFill>
                        </a:rPr>
                        <a:t> used during inference.</a:t>
                      </a:r>
                      <a:endParaRPr sz="1100">
                        <a:solidFill>
                          <a:schemeClr val="dk1"/>
                        </a:solidFill>
                      </a:endParaRPr>
                    </a:p>
                    <a:p>
                      <a:pPr indent="-298450" lvl="0" marL="457200" rtl="0" algn="just">
                        <a:spcBef>
                          <a:spcPts val="0"/>
                        </a:spcBef>
                        <a:spcAft>
                          <a:spcPts val="0"/>
                        </a:spcAft>
                        <a:buClr>
                          <a:schemeClr val="dk1"/>
                        </a:buClr>
                        <a:buSzPts val="1100"/>
                        <a:buChar char="●"/>
                      </a:pPr>
                      <a:r>
                        <a:rPr lang="en" sz="1100">
                          <a:solidFill>
                            <a:schemeClr val="dk1"/>
                          </a:solidFill>
                        </a:rPr>
                        <a:t>Shows that the model captures both </a:t>
                      </a:r>
                      <a:r>
                        <a:rPr b="1" lang="en" sz="1100">
                          <a:solidFill>
                            <a:schemeClr val="dk1"/>
                          </a:solidFill>
                        </a:rPr>
                        <a:t>local variations</a:t>
                      </a:r>
                      <a:r>
                        <a:rPr lang="en" sz="1100">
                          <a:solidFill>
                            <a:schemeClr val="dk1"/>
                          </a:solidFill>
                        </a:rPr>
                        <a:t> and </a:t>
                      </a:r>
                      <a:r>
                        <a:rPr b="1" lang="en" sz="1100">
                          <a:solidFill>
                            <a:schemeClr val="dk1"/>
                          </a:solidFill>
                        </a:rPr>
                        <a:t>global genre identity</a:t>
                      </a:r>
                      <a:r>
                        <a:rPr lang="en" sz="1100">
                          <a:solidFill>
                            <a:schemeClr val="dk1"/>
                          </a:solidFill>
                        </a:rPr>
                        <a:t>.</a:t>
                      </a:r>
                      <a:endParaRPr sz="1100">
                        <a:solidFill>
                          <a:schemeClr val="dk1"/>
                        </a:solidFill>
                      </a:endParaRPr>
                    </a:p>
                    <a:p>
                      <a:pPr indent="0" lvl="0" marL="457200" rtl="0" algn="just">
                        <a:spcBef>
                          <a:spcPts val="0"/>
                        </a:spcBef>
                        <a:spcAft>
                          <a:spcPts val="0"/>
                        </a:spcAft>
                        <a:buNone/>
                      </a:pPr>
                      <a:r>
                        <a:t/>
                      </a:r>
                      <a:endParaRPr sz="1100">
                        <a:solidFill>
                          <a:schemeClr val="dk1"/>
                        </a:solidFill>
                      </a:endParaRPr>
                    </a:p>
                    <a:p>
                      <a:pPr indent="0" lvl="0" marL="0" rtl="0" algn="just">
                        <a:spcBef>
                          <a:spcPts val="0"/>
                        </a:spcBef>
                        <a:spcAft>
                          <a:spcPts val="0"/>
                        </a:spcAft>
                        <a:buNone/>
                      </a:pPr>
                      <a:r>
                        <a:t/>
                      </a:r>
                      <a:endParaRPr sz="1200">
                        <a:solidFill>
                          <a:schemeClr val="dk1"/>
                        </a:solidFill>
                        <a:latin typeface="Times New Roman"/>
                        <a:ea typeface="Times New Roman"/>
                        <a:cs typeface="Times New Roman"/>
                        <a:sym typeface="Times New Roman"/>
                      </a:endParaRPr>
                    </a:p>
                  </a:txBody>
                  <a:tcPr marT="91425" marB="91425" marR="91425" marL="91425"/>
                </a:tc>
              </a:tr>
            </a:tbl>
          </a:graphicData>
        </a:graphic>
      </p:graphicFrame>
      <p:pic>
        <p:nvPicPr>
          <p:cNvPr id="132" name="Google Shape;132;p20"/>
          <p:cNvPicPr preferRelativeResize="0"/>
          <p:nvPr/>
        </p:nvPicPr>
        <p:blipFill>
          <a:blip r:embed="rId4">
            <a:alphaModFix/>
          </a:blip>
          <a:stretch>
            <a:fillRect/>
          </a:stretch>
        </p:blipFill>
        <p:spPr>
          <a:xfrm>
            <a:off x="1373150" y="2022475"/>
            <a:ext cx="6397686" cy="283616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1"/>
          <p:cNvSpPr txBox="1"/>
          <p:nvPr>
            <p:ph type="title"/>
          </p:nvPr>
        </p:nvSpPr>
        <p:spPr>
          <a:xfrm>
            <a:off x="450700" y="146675"/>
            <a:ext cx="7013700" cy="470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000"/>
              <a:t>Results:</a:t>
            </a:r>
            <a:endParaRPr b="1" sz="2000"/>
          </a:p>
        </p:txBody>
      </p:sp>
      <p:pic>
        <p:nvPicPr>
          <p:cNvPr id="138" name="Google Shape;138;p21"/>
          <p:cNvPicPr preferRelativeResize="0"/>
          <p:nvPr/>
        </p:nvPicPr>
        <p:blipFill>
          <a:blip r:embed="rId3">
            <a:alphaModFix/>
          </a:blip>
          <a:stretch>
            <a:fillRect/>
          </a:stretch>
        </p:blipFill>
        <p:spPr>
          <a:xfrm>
            <a:off x="0" y="4927225"/>
            <a:ext cx="9143999" cy="216275"/>
          </a:xfrm>
          <a:prstGeom prst="rect">
            <a:avLst/>
          </a:prstGeom>
          <a:noFill/>
          <a:ln>
            <a:noFill/>
          </a:ln>
        </p:spPr>
      </p:pic>
      <p:graphicFrame>
        <p:nvGraphicFramePr>
          <p:cNvPr id="139" name="Google Shape;139;p21"/>
          <p:cNvGraphicFramePr/>
          <p:nvPr/>
        </p:nvGraphicFramePr>
        <p:xfrm>
          <a:off x="795625" y="917613"/>
          <a:ext cx="3000000" cy="3000000"/>
        </p:xfrm>
        <a:graphic>
          <a:graphicData uri="http://schemas.openxmlformats.org/drawingml/2006/table">
            <a:tbl>
              <a:tblPr>
                <a:noFill/>
                <a:tableStyleId>{04802916-58F7-4A72-A372-689BE9D58692}</a:tableStyleId>
              </a:tblPr>
              <a:tblGrid>
                <a:gridCol w="7552725"/>
              </a:tblGrid>
              <a:tr h="581250">
                <a:tc>
                  <a:txBody>
                    <a:bodyPr/>
                    <a:lstStyle/>
                    <a:p>
                      <a:pPr indent="0" lvl="0" marL="0" rtl="0" algn="just">
                        <a:spcBef>
                          <a:spcPts val="0"/>
                        </a:spcBef>
                        <a:spcAft>
                          <a:spcPts val="0"/>
                        </a:spcAft>
                        <a:buNone/>
                      </a:pPr>
                      <a:r>
                        <a:rPr lang="en" sz="1100">
                          <a:solidFill>
                            <a:schemeClr val="dk1"/>
                          </a:solidFill>
                        </a:rPr>
                        <a:t>Calibration &amp; Reliability Diagram: </a:t>
                      </a:r>
                      <a:endParaRPr sz="1100">
                        <a:solidFill>
                          <a:schemeClr val="dk1"/>
                        </a:solidFill>
                      </a:endParaRPr>
                    </a:p>
                    <a:p>
                      <a:pPr indent="-298450" lvl="0" marL="457200" rtl="0" algn="just">
                        <a:spcBef>
                          <a:spcPts val="0"/>
                        </a:spcBef>
                        <a:spcAft>
                          <a:spcPts val="0"/>
                        </a:spcAft>
                        <a:buClr>
                          <a:schemeClr val="dk1"/>
                        </a:buClr>
                        <a:buSzPts val="1100"/>
                        <a:buChar char="●"/>
                      </a:pPr>
                      <a:r>
                        <a:rPr lang="en" sz="1100">
                          <a:solidFill>
                            <a:schemeClr val="dk1"/>
                          </a:solidFill>
                        </a:rPr>
                        <a:t>Demonstrates that the model is not over-confident.</a:t>
                      </a:r>
                      <a:endParaRPr sz="1100">
                        <a:solidFill>
                          <a:schemeClr val="dk1"/>
                        </a:solidFill>
                      </a:endParaRPr>
                    </a:p>
                    <a:p>
                      <a:pPr indent="-298450" lvl="0" marL="457200" rtl="0" algn="just">
                        <a:spcBef>
                          <a:spcPts val="0"/>
                        </a:spcBef>
                        <a:spcAft>
                          <a:spcPts val="0"/>
                        </a:spcAft>
                        <a:buClr>
                          <a:schemeClr val="dk1"/>
                        </a:buClr>
                        <a:buSzPts val="1100"/>
                        <a:buChar char="●"/>
                      </a:pPr>
                      <a:r>
                        <a:rPr lang="en" sz="1100">
                          <a:solidFill>
                            <a:schemeClr val="dk1"/>
                          </a:solidFill>
                        </a:rPr>
                        <a:t>Indicates that predicted probabilities can be trusted, which is important for real-world deployment.</a:t>
                      </a:r>
                      <a:endParaRPr sz="1100">
                        <a:solidFill>
                          <a:schemeClr val="dk1"/>
                        </a:solidFill>
                      </a:endParaRPr>
                    </a:p>
                    <a:p>
                      <a:pPr indent="0" lvl="0" marL="457200" rtl="0" algn="just">
                        <a:spcBef>
                          <a:spcPts val="0"/>
                        </a:spcBef>
                        <a:spcAft>
                          <a:spcPts val="0"/>
                        </a:spcAft>
                        <a:buNone/>
                      </a:pPr>
                      <a:r>
                        <a:t/>
                      </a:r>
                      <a:endParaRPr sz="1100">
                        <a:solidFill>
                          <a:schemeClr val="dk1"/>
                        </a:solidFill>
                      </a:endParaRPr>
                    </a:p>
                    <a:p>
                      <a:pPr indent="0" lvl="0" marL="0" rtl="0" algn="just">
                        <a:spcBef>
                          <a:spcPts val="0"/>
                        </a:spcBef>
                        <a:spcAft>
                          <a:spcPts val="0"/>
                        </a:spcAft>
                        <a:buNone/>
                      </a:pPr>
                      <a:r>
                        <a:t/>
                      </a:r>
                      <a:endParaRPr sz="1200">
                        <a:solidFill>
                          <a:schemeClr val="dk1"/>
                        </a:solidFill>
                        <a:latin typeface="Times New Roman"/>
                        <a:ea typeface="Times New Roman"/>
                        <a:cs typeface="Times New Roman"/>
                        <a:sym typeface="Times New Roman"/>
                      </a:endParaRPr>
                    </a:p>
                  </a:txBody>
                  <a:tcPr marT="91425" marB="91425" marR="91425" marL="91425"/>
                </a:tc>
              </a:tr>
            </a:tbl>
          </a:graphicData>
        </a:graphic>
      </p:graphicFrame>
      <p:pic>
        <p:nvPicPr>
          <p:cNvPr id="140" name="Google Shape;140;p21"/>
          <p:cNvPicPr preferRelativeResize="0"/>
          <p:nvPr/>
        </p:nvPicPr>
        <p:blipFill>
          <a:blip r:embed="rId4">
            <a:alphaModFix/>
          </a:blip>
          <a:stretch>
            <a:fillRect/>
          </a:stretch>
        </p:blipFill>
        <p:spPr>
          <a:xfrm>
            <a:off x="3114438" y="2022475"/>
            <a:ext cx="2769501" cy="283616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2"/>
          <p:cNvSpPr txBox="1"/>
          <p:nvPr>
            <p:ph type="title"/>
          </p:nvPr>
        </p:nvSpPr>
        <p:spPr>
          <a:xfrm>
            <a:off x="450700" y="146675"/>
            <a:ext cx="7013700" cy="470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000"/>
              <a:t>Conclusion:</a:t>
            </a:r>
            <a:endParaRPr b="1" sz="2000"/>
          </a:p>
        </p:txBody>
      </p:sp>
      <p:pic>
        <p:nvPicPr>
          <p:cNvPr id="146" name="Google Shape;146;p22"/>
          <p:cNvPicPr preferRelativeResize="0"/>
          <p:nvPr/>
        </p:nvPicPr>
        <p:blipFill>
          <a:blip r:embed="rId3">
            <a:alphaModFix/>
          </a:blip>
          <a:stretch>
            <a:fillRect/>
          </a:stretch>
        </p:blipFill>
        <p:spPr>
          <a:xfrm>
            <a:off x="0" y="4927225"/>
            <a:ext cx="9143999" cy="216275"/>
          </a:xfrm>
          <a:prstGeom prst="rect">
            <a:avLst/>
          </a:prstGeom>
          <a:noFill/>
          <a:ln>
            <a:noFill/>
          </a:ln>
        </p:spPr>
      </p:pic>
      <p:graphicFrame>
        <p:nvGraphicFramePr>
          <p:cNvPr id="147" name="Google Shape;147;p22"/>
          <p:cNvGraphicFramePr/>
          <p:nvPr/>
        </p:nvGraphicFramePr>
        <p:xfrm>
          <a:off x="795638" y="1361088"/>
          <a:ext cx="3000000" cy="3000000"/>
        </p:xfrm>
        <a:graphic>
          <a:graphicData uri="http://schemas.openxmlformats.org/drawingml/2006/table">
            <a:tbl>
              <a:tblPr>
                <a:noFill/>
                <a:tableStyleId>{04802916-58F7-4A72-A372-689BE9D58692}</a:tableStyleId>
              </a:tblPr>
              <a:tblGrid>
                <a:gridCol w="7552725"/>
              </a:tblGrid>
              <a:tr h="1908925">
                <a:tc>
                  <a:txBody>
                    <a:bodyPr/>
                    <a:lstStyle/>
                    <a:p>
                      <a:pPr indent="0" lvl="0" marL="0" rtl="0" algn="just">
                        <a:spcBef>
                          <a:spcPts val="0"/>
                        </a:spcBef>
                        <a:spcAft>
                          <a:spcPts val="0"/>
                        </a:spcAft>
                        <a:buNone/>
                      </a:pPr>
                      <a:r>
                        <a:rPr lang="en" sz="1200">
                          <a:solidFill>
                            <a:schemeClr val="dk1"/>
                          </a:solidFill>
                          <a:latin typeface="Times New Roman"/>
                          <a:ea typeface="Times New Roman"/>
                          <a:cs typeface="Times New Roman"/>
                          <a:sym typeface="Times New Roman"/>
                        </a:rPr>
                        <a:t>        This project successfully developed a complete music genre classification pipeline, starting from dataset exploration and preprocessing to model deployment. Audio features were carefully analyzed, cleaned, and visualized using statistical methods, correlation analysis, and dimensionality-reduction techniques to gain meaningful insights into the data. Both pre-extracted features and raw audio signals were utilized, with MFCCs extracted directly from audio files to capture important spectral and temporal characteristics. Multiple deep learning models, including ANN, LSTM, and CNN, were implemented and evaluated, with the CNN achieving the strongest performance. The trained model was integrated into a Flask-based web application capable of handling real-time audio uploads and predictions. Reliable audio preprocessing with FFMPEG ensured system stability and scalability. Overall, the project demonstrates a well-structured, end-to-end solution for music genre classification that is effective, practical, and ready for real-world use.</a:t>
                      </a:r>
                      <a:endParaRPr sz="1200">
                        <a:solidFill>
                          <a:schemeClr val="dk1"/>
                        </a:solidFill>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3"/>
          <p:cNvSpPr txBox="1"/>
          <p:nvPr>
            <p:ph idx="1" type="subTitle"/>
          </p:nvPr>
        </p:nvSpPr>
        <p:spPr>
          <a:xfrm>
            <a:off x="1409325" y="1781075"/>
            <a:ext cx="6027000" cy="1155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DEMONSTRATION</a:t>
            </a:r>
            <a:endParaRPr/>
          </a:p>
        </p:txBody>
      </p:sp>
      <p:sp>
        <p:nvSpPr>
          <p:cNvPr id="153" name="Google Shape;153;p23"/>
          <p:cNvSpPr txBox="1"/>
          <p:nvPr/>
        </p:nvSpPr>
        <p:spPr>
          <a:xfrm>
            <a:off x="8037425" y="666950"/>
            <a:ext cx="633000" cy="271200"/>
          </a:xfrm>
          <a:prstGeom prst="rect">
            <a:avLst/>
          </a:prstGeom>
          <a:solidFill>
            <a:srgbClr val="181E4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4"/>
          <p:cNvSpPr txBox="1"/>
          <p:nvPr>
            <p:ph idx="1" type="subTitle"/>
          </p:nvPr>
        </p:nvSpPr>
        <p:spPr>
          <a:xfrm>
            <a:off x="1409325" y="1781075"/>
            <a:ext cx="6027000" cy="1155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500"/>
              <a:t>Presentation Video - </a:t>
            </a:r>
            <a:r>
              <a:rPr lang="en" sz="1500" u="sng">
                <a:solidFill>
                  <a:schemeClr val="hlink"/>
                </a:solidFill>
                <a:hlinkClick r:id="rId3"/>
              </a:rPr>
              <a:t>https://youtu.be/amlSIy4KrkE</a:t>
            </a:r>
            <a:endParaRPr sz="1500"/>
          </a:p>
          <a:p>
            <a:pPr indent="0" lvl="0" marL="0" rtl="0" algn="ctr">
              <a:spcBef>
                <a:spcPts val="0"/>
              </a:spcBef>
              <a:spcAft>
                <a:spcPts val="0"/>
              </a:spcAft>
              <a:buNone/>
            </a:pPr>
            <a:r>
              <a:t/>
            </a:r>
            <a:endParaRPr sz="1500"/>
          </a:p>
          <a:p>
            <a:pPr indent="0" lvl="0" marL="0" rtl="0" algn="ctr">
              <a:spcBef>
                <a:spcPts val="0"/>
              </a:spcBef>
              <a:spcAft>
                <a:spcPts val="0"/>
              </a:spcAft>
              <a:buNone/>
            </a:pPr>
            <a:r>
              <a:rPr lang="en" sz="1500"/>
              <a:t>Demo Video - </a:t>
            </a:r>
            <a:r>
              <a:rPr lang="en" sz="1500" u="sng">
                <a:solidFill>
                  <a:schemeClr val="hlink"/>
                </a:solidFill>
                <a:hlinkClick r:id="rId4"/>
              </a:rPr>
              <a:t>https://youtu.be/j7CRVgZhN4I</a:t>
            </a:r>
            <a:endParaRPr sz="1500"/>
          </a:p>
          <a:p>
            <a:pPr indent="0" lvl="0" marL="0" rtl="0" algn="ctr">
              <a:spcBef>
                <a:spcPts val="0"/>
              </a:spcBef>
              <a:spcAft>
                <a:spcPts val="0"/>
              </a:spcAft>
              <a:buNone/>
            </a:pPr>
            <a:r>
              <a:t/>
            </a:r>
            <a:endParaRPr/>
          </a:p>
        </p:txBody>
      </p:sp>
      <p:sp>
        <p:nvSpPr>
          <p:cNvPr id="159" name="Google Shape;159;p24"/>
          <p:cNvSpPr txBox="1"/>
          <p:nvPr/>
        </p:nvSpPr>
        <p:spPr>
          <a:xfrm>
            <a:off x="8037425" y="666950"/>
            <a:ext cx="633000" cy="271200"/>
          </a:xfrm>
          <a:prstGeom prst="rect">
            <a:avLst/>
          </a:prstGeom>
          <a:solidFill>
            <a:srgbClr val="181E4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5"/>
          <p:cNvSpPr txBox="1"/>
          <p:nvPr>
            <p:ph idx="1" type="subTitle"/>
          </p:nvPr>
        </p:nvSpPr>
        <p:spPr>
          <a:xfrm>
            <a:off x="1409325" y="1781075"/>
            <a:ext cx="6027000" cy="1155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Thank You!!</a:t>
            </a:r>
            <a:endParaRPr/>
          </a:p>
        </p:txBody>
      </p:sp>
      <p:sp>
        <p:nvSpPr>
          <p:cNvPr id="165" name="Google Shape;165;p25"/>
          <p:cNvSpPr txBox="1"/>
          <p:nvPr/>
        </p:nvSpPr>
        <p:spPr>
          <a:xfrm>
            <a:off x="8037425" y="666950"/>
            <a:ext cx="633000" cy="271200"/>
          </a:xfrm>
          <a:prstGeom prst="rect">
            <a:avLst/>
          </a:prstGeom>
          <a:solidFill>
            <a:srgbClr val="181E4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